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Lst>
  <p:sldIdLst>
    <p:sldId id="256" r:id="rId6"/>
    <p:sldId id="328" r:id="rId7"/>
    <p:sldId id="257" r:id="rId8"/>
    <p:sldId id="258" r:id="rId9"/>
    <p:sldId id="330"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29" r:id="rId52"/>
    <p:sldId id="300" r:id="rId53"/>
    <p:sldId id="301" r:id="rId54"/>
    <p:sldId id="302" r:id="rId55"/>
    <p:sldId id="303" r:id="rId56"/>
    <p:sldId id="331" r:id="rId57"/>
    <p:sldId id="332" r:id="rId58"/>
    <p:sldId id="33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 id="326" r:id="rId82"/>
    <p:sldId id="327" r:id="rId83"/>
  </p:sldIdLst>
  <p:sldSz cx="9144000" cy="5143500" type="screen16x9"/>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9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797F58-B979-B095-69AE-C87F09E03244}" v="170" dt="2026-10-13T19:14:30.031"/>
    <p1510:client id="{DCEDC810-0585-9CB2-B36B-FB6BD9F0E681}" v="1" dt="2026-10-14T15:34:51.712"/>
    <p1510:client id="{E239FE55-6BE6-10DA-1D01-D5A9FAD6FD9C}" v="61" dt="2026-10-14T21:35:51.7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presProps" Target="presProp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5.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tableStyles" Target="tableStyles.xml"/><Relationship Id="rId61" Type="http://schemas.openxmlformats.org/officeDocument/2006/relationships/slide" Target="slides/slide56.xml"/><Relationship Id="rId82" Type="http://schemas.openxmlformats.org/officeDocument/2006/relationships/slide" Target="slides/slide7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9"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4"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6"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0"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2"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4"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6"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7"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9"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0"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1"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2"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4"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5"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6"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7"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8"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9"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5"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7"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9"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0"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4"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5"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6"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8"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9"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0"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2"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3"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4"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6"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7"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9"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0"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1"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2"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4"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5"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6"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7"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8"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9"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84"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8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88"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9"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1"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93"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4"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5"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97"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8"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9"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1"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2"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3"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5"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6"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8"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9"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0"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1"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13"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4"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5"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6"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7"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8"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24"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2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28"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29"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1"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33"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4"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5"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37"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8"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9"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41"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2"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3"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45"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6"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48"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9"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0"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1"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53"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4"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5"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6"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7"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8"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6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64"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6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6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68"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69"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71"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7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73"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4"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5"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77"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8"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9"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8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1"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2"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3"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8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5"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6"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8"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9"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0"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1"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9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93"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4"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5"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6"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7"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8"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2A22"/>
        </a:solidFill>
        <a:effectLst/>
      </p:bgPr>
    </p:bg>
    <p:spTree>
      <p:nvGrpSpPr>
        <p:cNvPr id="1" name=""/>
        <p:cNvGrpSpPr/>
        <p:nvPr/>
      </p:nvGrpSpPr>
      <p:grpSpPr>
        <a:xfrm>
          <a:off x="0" y="0"/>
          <a:ext cx="0" cy="0"/>
          <a:chOff x="0" y="0"/>
          <a:chExt cx="0" cy="0"/>
        </a:xfrm>
      </p:grpSpPr>
      <p:sp>
        <p:nvSpPr>
          <p:cNvPr id="4" name="Google Shape;11;p2"/>
          <p:cNvSpPr/>
          <p:nvPr/>
        </p:nvSpPr>
        <p:spPr>
          <a:xfrm>
            <a:off x="-230760" y="233640"/>
            <a:ext cx="9678240" cy="360"/>
          </a:xfrm>
          <a:custGeom>
            <a:avLst/>
            <a:gdLst/>
            <a:ahLst/>
            <a:cxnLst/>
            <a:rect l="l" t="t" r="r" b="b"/>
            <a:pathLst>
              <a:path w="21600" h="21600">
                <a:moveTo>
                  <a:pt x="0" y="0"/>
                </a:moveTo>
                <a:lnTo>
                  <a:pt x="21600" y="21600"/>
                </a:lnTo>
              </a:path>
            </a:pathLst>
          </a:custGeom>
          <a:noFill/>
          <a:ln w="9360">
            <a:solidFill>
              <a:srgbClr val="BFCE84"/>
            </a:solidFill>
            <a:round/>
          </a:ln>
        </p:spPr>
        <p:style>
          <a:lnRef idx="0">
            <a:scrgbClr r="0" g="0" b="0"/>
          </a:lnRef>
          <a:fillRef idx="0">
            <a:scrgbClr r="0" g="0" b="0"/>
          </a:fillRef>
          <a:effectRef idx="0">
            <a:scrgbClr r="0" g="0" b="0"/>
          </a:effectRef>
          <a:fontRef idx="minor"/>
        </p:style>
      </p:sp>
      <p:sp>
        <p:nvSpPr>
          <p:cNvPr id="5" name="Google Shape;12;p2"/>
          <p:cNvSpPr/>
          <p:nvPr/>
        </p:nvSpPr>
        <p:spPr>
          <a:xfrm>
            <a:off x="6775560" y="-92880"/>
            <a:ext cx="2543400" cy="5235480"/>
          </a:xfrm>
          <a:prstGeom prst="rect">
            <a:avLst/>
          </a:prstGeom>
          <a:solidFill>
            <a:srgbClr val="000000"/>
          </a:solidFill>
          <a:ln w="0">
            <a:noFill/>
          </a:ln>
        </p:spPr>
        <p:style>
          <a:lnRef idx="0">
            <a:scrgbClr r="0" g="0" b="0"/>
          </a:lnRef>
          <a:fillRef idx="0">
            <a:scrgbClr r="0" g="0" b="0"/>
          </a:fillRef>
          <a:effectRef idx="0">
            <a:scrgbClr r="0" g="0" b="0"/>
          </a:effectRef>
          <a:fontRef idx="minor"/>
        </p:style>
      </p:sp>
      <p:sp>
        <p:nvSpPr>
          <p:cNvPr id="2" name="PlaceHolder 1"/>
          <p:cNvSpPr>
            <a:spLocks noGrp="1"/>
          </p:cNvSpPr>
          <p:nvPr>
            <p:ph type="title"/>
          </p:nvPr>
        </p:nvSpPr>
        <p:spPr>
          <a:xfrm>
            <a:off x="713160" y="357480"/>
            <a:ext cx="3188880" cy="124992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US" sz="2800" b="0" strike="noStrike" spc="-1">
                <a:latin typeface="Arial"/>
              </a:rPr>
              <a:t>Second Outline Level</a:t>
            </a:r>
          </a:p>
          <a:p>
            <a:pPr marL="1296000" lvl="2" indent="-288000">
              <a:spcBef>
                <a:spcPts val="850"/>
              </a:spcBef>
              <a:buClr>
                <a:srgbClr val="FFFFFF"/>
              </a:buClr>
              <a:buSzPct val="45000"/>
              <a:buFont typeface="Wingdings" charset="2"/>
              <a:buChar char=""/>
            </a:pPr>
            <a:r>
              <a:rPr lang="en-US" sz="2400" b="0" strike="noStrike" spc="-1">
                <a:latin typeface="Arial"/>
              </a:rPr>
              <a:t>Third Outline Level</a:t>
            </a:r>
          </a:p>
          <a:p>
            <a:pPr marL="1728000" lvl="3" indent="-216000">
              <a:spcBef>
                <a:spcPts val="567"/>
              </a:spcBef>
              <a:buClr>
                <a:srgbClr val="FFFFFF"/>
              </a:buClr>
              <a:buSzPct val="75000"/>
              <a:buFont typeface="Symbol" charset="2"/>
              <a:buChar char=""/>
            </a:pPr>
            <a:r>
              <a:rPr lang="en-US" sz="2000" b="0" strike="noStrike" spc="-1">
                <a:latin typeface="Arial"/>
              </a:rPr>
              <a:t>Fourth Outline Level</a:t>
            </a:r>
          </a:p>
          <a:p>
            <a:pPr marL="2160000" lvl="4" indent="-216000">
              <a:spcBef>
                <a:spcPts val="283"/>
              </a:spcBef>
              <a:buClr>
                <a:srgbClr val="FFFFFF"/>
              </a:buClr>
              <a:buSzPct val="45000"/>
              <a:buFont typeface="Wingdings" charset="2"/>
              <a:buChar char=""/>
            </a:pPr>
            <a:r>
              <a:rPr lang="en-US" sz="2000" b="0" strike="noStrike" spc="-1">
                <a:latin typeface="Arial"/>
              </a:rPr>
              <a:t>Fifth Outline Level</a:t>
            </a:r>
          </a:p>
          <a:p>
            <a:pPr marL="2592000" lvl="5" indent="-216000">
              <a:spcBef>
                <a:spcPts val="283"/>
              </a:spcBef>
              <a:buClr>
                <a:srgbClr val="FFFFFF"/>
              </a:buClr>
              <a:buSzPct val="45000"/>
              <a:buFont typeface="Wingdings" charset="2"/>
              <a:buChar char=""/>
            </a:pPr>
            <a:r>
              <a:rPr lang="en-US" sz="2000" b="0" strike="noStrike" spc="-1">
                <a:latin typeface="Arial"/>
              </a:rPr>
              <a:t>Sixth Outline Level</a:t>
            </a:r>
          </a:p>
          <a:p>
            <a:pPr marL="3024000" lvl="6" indent="-216000">
              <a:spcBef>
                <a:spcPts val="283"/>
              </a:spcBef>
              <a:buClr>
                <a:srgbClr val="FFFFFF"/>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E2A22"/>
        </a:solidFill>
        <a:effectLst/>
      </p:bgPr>
    </p:bg>
    <p:spTree>
      <p:nvGrpSpPr>
        <p:cNvPr id="1" name=""/>
        <p:cNvGrpSpPr/>
        <p:nvPr/>
      </p:nvGrpSpPr>
      <p:grpSpPr>
        <a:xfrm>
          <a:off x="0" y="0"/>
          <a:ext cx="0" cy="0"/>
          <a:chOff x="0" y="0"/>
          <a:chExt cx="0" cy="0"/>
        </a:xfrm>
      </p:grpSpPr>
      <p:sp>
        <p:nvSpPr>
          <p:cNvPr id="40" name="Google Shape;71;p15"/>
          <p:cNvSpPr/>
          <p:nvPr/>
        </p:nvSpPr>
        <p:spPr>
          <a:xfrm>
            <a:off x="-230760" y="233640"/>
            <a:ext cx="9678240" cy="360"/>
          </a:xfrm>
          <a:custGeom>
            <a:avLst/>
            <a:gdLst/>
            <a:ahLst/>
            <a:cxnLst/>
            <a:rect l="l" t="t" r="r" b="b"/>
            <a:pathLst>
              <a:path w="21600" h="21600">
                <a:moveTo>
                  <a:pt x="0" y="0"/>
                </a:moveTo>
                <a:lnTo>
                  <a:pt x="21600" y="21600"/>
                </a:lnTo>
              </a:path>
            </a:pathLst>
          </a:custGeom>
          <a:noFill/>
          <a:ln w="9360">
            <a:solidFill>
              <a:srgbClr val="BFCE84"/>
            </a:solidFill>
            <a:round/>
          </a:ln>
        </p:spPr>
        <p:style>
          <a:lnRef idx="0">
            <a:scrgbClr r="0" g="0" b="0"/>
          </a:lnRef>
          <a:fillRef idx="0">
            <a:scrgbClr r="0" g="0" b="0"/>
          </a:fillRef>
          <a:effectRef idx="0">
            <a:scrgbClr r="0" g="0" b="0"/>
          </a:effectRef>
          <a:fontRef idx="minor"/>
        </p:style>
      </p:sp>
      <p:sp>
        <p:nvSpPr>
          <p:cNvPr id="41" name="Google Shape;72;p15"/>
          <p:cNvSpPr/>
          <p:nvPr/>
        </p:nvSpPr>
        <p:spPr>
          <a:xfrm rot="5400000">
            <a:off x="6354720" y="2289600"/>
            <a:ext cx="5181120" cy="563040"/>
          </a:xfrm>
          <a:prstGeom prst="rect">
            <a:avLst/>
          </a:prstGeom>
          <a:solidFill>
            <a:srgbClr val="000000"/>
          </a:solidFill>
          <a:ln w="0">
            <a:noFill/>
          </a:ln>
        </p:spPr>
        <p:style>
          <a:lnRef idx="0">
            <a:scrgbClr r="0" g="0" b="0"/>
          </a:lnRef>
          <a:fillRef idx="0">
            <a:scrgbClr r="0" g="0" b="0"/>
          </a:fillRef>
          <a:effectRef idx="0">
            <a:scrgbClr r="0" g="0" b="0"/>
          </a:effectRef>
          <a:fontRef idx="minor"/>
        </p:style>
      </p:sp>
      <p:sp>
        <p:nvSpPr>
          <p:cNvPr id="4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4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US" sz="2800" b="0" strike="noStrike" spc="-1">
                <a:latin typeface="Arial"/>
              </a:rPr>
              <a:t>Second Outline Level</a:t>
            </a:r>
          </a:p>
          <a:p>
            <a:pPr marL="1296000" lvl="2" indent="-288000">
              <a:spcBef>
                <a:spcPts val="850"/>
              </a:spcBef>
              <a:buClr>
                <a:srgbClr val="FFFFFF"/>
              </a:buClr>
              <a:buSzPct val="45000"/>
              <a:buFont typeface="Wingdings" charset="2"/>
              <a:buChar char=""/>
            </a:pPr>
            <a:r>
              <a:rPr lang="en-US" sz="2400" b="0" strike="noStrike" spc="-1">
                <a:latin typeface="Arial"/>
              </a:rPr>
              <a:t>Third Outline Level</a:t>
            </a:r>
          </a:p>
          <a:p>
            <a:pPr marL="1728000" lvl="3" indent="-216000">
              <a:spcBef>
                <a:spcPts val="567"/>
              </a:spcBef>
              <a:buClr>
                <a:srgbClr val="FFFFFF"/>
              </a:buClr>
              <a:buSzPct val="75000"/>
              <a:buFont typeface="Symbol" charset="2"/>
              <a:buChar char=""/>
            </a:pPr>
            <a:r>
              <a:rPr lang="en-US" sz="2000" b="0" strike="noStrike" spc="-1">
                <a:latin typeface="Arial"/>
              </a:rPr>
              <a:t>Fourth Outline Level</a:t>
            </a:r>
          </a:p>
          <a:p>
            <a:pPr marL="2160000" lvl="4" indent="-216000">
              <a:spcBef>
                <a:spcPts val="283"/>
              </a:spcBef>
              <a:buClr>
                <a:srgbClr val="FFFFFF"/>
              </a:buClr>
              <a:buSzPct val="45000"/>
              <a:buFont typeface="Wingdings" charset="2"/>
              <a:buChar char=""/>
            </a:pPr>
            <a:r>
              <a:rPr lang="en-US" sz="2000" b="0" strike="noStrike" spc="-1">
                <a:latin typeface="Arial"/>
              </a:rPr>
              <a:t>Fifth Outline Level</a:t>
            </a:r>
          </a:p>
          <a:p>
            <a:pPr marL="2592000" lvl="5" indent="-216000">
              <a:spcBef>
                <a:spcPts val="283"/>
              </a:spcBef>
              <a:buClr>
                <a:srgbClr val="FFFFFF"/>
              </a:buClr>
              <a:buSzPct val="45000"/>
              <a:buFont typeface="Wingdings" charset="2"/>
              <a:buChar char=""/>
            </a:pPr>
            <a:r>
              <a:rPr lang="en-US" sz="2000" b="0" strike="noStrike" spc="-1">
                <a:latin typeface="Arial"/>
              </a:rPr>
              <a:t>Sixth Outline Level</a:t>
            </a:r>
          </a:p>
          <a:p>
            <a:pPr marL="3024000" lvl="6" indent="-216000">
              <a:spcBef>
                <a:spcPts val="283"/>
              </a:spcBef>
              <a:buClr>
                <a:srgbClr val="FFFFFF"/>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E2A22"/>
        </a:solidFill>
        <a:effectLst/>
      </p:bgPr>
    </p:bg>
    <p:spTree>
      <p:nvGrpSpPr>
        <p:cNvPr id="1" name=""/>
        <p:cNvGrpSpPr/>
        <p:nvPr/>
      </p:nvGrpSpPr>
      <p:grpSpPr>
        <a:xfrm>
          <a:off x="0" y="0"/>
          <a:ext cx="0" cy="0"/>
          <a:chOff x="0" y="0"/>
          <a:chExt cx="0" cy="0"/>
        </a:xfrm>
      </p:grpSpPr>
      <p:sp>
        <p:nvSpPr>
          <p:cNvPr id="80" name="Google Shape;74;p16"/>
          <p:cNvSpPr/>
          <p:nvPr/>
        </p:nvSpPr>
        <p:spPr>
          <a:xfrm>
            <a:off x="6775560" y="-92880"/>
            <a:ext cx="2543400" cy="5235480"/>
          </a:xfrm>
          <a:prstGeom prst="rect">
            <a:avLst/>
          </a:prstGeom>
          <a:solidFill>
            <a:srgbClr val="000000"/>
          </a:solidFill>
          <a:ln w="0">
            <a:noFill/>
          </a:ln>
        </p:spPr>
        <p:style>
          <a:lnRef idx="0">
            <a:scrgbClr r="0" g="0" b="0"/>
          </a:lnRef>
          <a:fillRef idx="0">
            <a:scrgbClr r="0" g="0" b="0"/>
          </a:fillRef>
          <a:effectRef idx="0">
            <a:scrgbClr r="0" g="0" b="0"/>
          </a:effectRef>
          <a:fontRef idx="minor"/>
        </p:style>
      </p:sp>
      <p:sp>
        <p:nvSpPr>
          <p:cNvPr id="8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8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US" sz="2800" b="0" strike="noStrike" spc="-1">
                <a:latin typeface="Arial"/>
              </a:rPr>
              <a:t>Second Outline Level</a:t>
            </a:r>
          </a:p>
          <a:p>
            <a:pPr marL="1296000" lvl="2" indent="-288000">
              <a:spcBef>
                <a:spcPts val="850"/>
              </a:spcBef>
              <a:buClr>
                <a:srgbClr val="FFFFFF"/>
              </a:buClr>
              <a:buSzPct val="45000"/>
              <a:buFont typeface="Wingdings" charset="2"/>
              <a:buChar char=""/>
            </a:pPr>
            <a:r>
              <a:rPr lang="en-US" sz="2400" b="0" strike="noStrike" spc="-1">
                <a:latin typeface="Arial"/>
              </a:rPr>
              <a:t>Third Outline Level</a:t>
            </a:r>
          </a:p>
          <a:p>
            <a:pPr marL="1728000" lvl="3" indent="-216000">
              <a:spcBef>
                <a:spcPts val="567"/>
              </a:spcBef>
              <a:buClr>
                <a:srgbClr val="FFFFFF"/>
              </a:buClr>
              <a:buSzPct val="75000"/>
              <a:buFont typeface="Symbol" charset="2"/>
              <a:buChar char=""/>
            </a:pPr>
            <a:r>
              <a:rPr lang="en-US" sz="2000" b="0" strike="noStrike" spc="-1">
                <a:latin typeface="Arial"/>
              </a:rPr>
              <a:t>Fourth Outline Level</a:t>
            </a:r>
          </a:p>
          <a:p>
            <a:pPr marL="2160000" lvl="4" indent="-216000">
              <a:spcBef>
                <a:spcPts val="283"/>
              </a:spcBef>
              <a:buClr>
                <a:srgbClr val="FFFFFF"/>
              </a:buClr>
              <a:buSzPct val="45000"/>
              <a:buFont typeface="Wingdings" charset="2"/>
              <a:buChar char=""/>
            </a:pPr>
            <a:r>
              <a:rPr lang="en-US" sz="2000" b="0" strike="noStrike" spc="-1">
                <a:latin typeface="Arial"/>
              </a:rPr>
              <a:t>Fifth Outline Level</a:t>
            </a:r>
          </a:p>
          <a:p>
            <a:pPr marL="2592000" lvl="5" indent="-216000">
              <a:spcBef>
                <a:spcPts val="283"/>
              </a:spcBef>
              <a:buClr>
                <a:srgbClr val="FFFFFF"/>
              </a:buClr>
              <a:buSzPct val="45000"/>
              <a:buFont typeface="Wingdings" charset="2"/>
              <a:buChar char=""/>
            </a:pPr>
            <a:r>
              <a:rPr lang="en-US" sz="2000" b="0" strike="noStrike" spc="-1">
                <a:latin typeface="Arial"/>
              </a:rPr>
              <a:t>Sixth Outline Level</a:t>
            </a:r>
          </a:p>
          <a:p>
            <a:pPr marL="3024000" lvl="6" indent="-216000">
              <a:spcBef>
                <a:spcPts val="283"/>
              </a:spcBef>
              <a:buClr>
                <a:srgbClr val="FFFFFF"/>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E2A22"/>
        </a:solidFill>
        <a:effectLst/>
      </p:bgPr>
    </p:bg>
    <p:spTree>
      <p:nvGrpSpPr>
        <p:cNvPr id="1" name=""/>
        <p:cNvGrpSpPr/>
        <p:nvPr/>
      </p:nvGrpSpPr>
      <p:grpSpPr>
        <a:xfrm>
          <a:off x="0" y="0"/>
          <a:ext cx="0" cy="0"/>
          <a:chOff x="0" y="0"/>
          <a:chExt cx="0" cy="0"/>
        </a:xfrm>
      </p:grpSpPr>
      <p:sp>
        <p:nvSpPr>
          <p:cNvPr id="119" name="Google Shape;109;p20"/>
          <p:cNvSpPr/>
          <p:nvPr/>
        </p:nvSpPr>
        <p:spPr>
          <a:xfrm>
            <a:off x="-230760" y="233640"/>
            <a:ext cx="9678240" cy="360"/>
          </a:xfrm>
          <a:custGeom>
            <a:avLst/>
            <a:gdLst/>
            <a:ahLst/>
            <a:cxnLst/>
            <a:rect l="l" t="t" r="r" b="b"/>
            <a:pathLst>
              <a:path w="21600" h="21600">
                <a:moveTo>
                  <a:pt x="0" y="0"/>
                </a:moveTo>
                <a:lnTo>
                  <a:pt x="21600" y="21600"/>
                </a:lnTo>
              </a:path>
            </a:pathLst>
          </a:custGeom>
          <a:noFill/>
          <a:ln w="9360">
            <a:solidFill>
              <a:srgbClr val="BFCE84"/>
            </a:solidFill>
            <a:round/>
          </a:ln>
        </p:spPr>
        <p:style>
          <a:lnRef idx="0">
            <a:scrgbClr r="0" g="0" b="0"/>
          </a:lnRef>
          <a:fillRef idx="0">
            <a:scrgbClr r="0" g="0" b="0"/>
          </a:fillRef>
          <a:effectRef idx="0">
            <a:scrgbClr r="0" g="0" b="0"/>
          </a:effectRef>
          <a:fontRef idx="minor"/>
        </p:style>
      </p:sp>
      <p:sp>
        <p:nvSpPr>
          <p:cNvPr id="120" name="Google Shape;110;p20"/>
          <p:cNvSpPr/>
          <p:nvPr/>
        </p:nvSpPr>
        <p:spPr>
          <a:xfrm flipH="1">
            <a:off x="-11520" y="1359720"/>
            <a:ext cx="9142920" cy="3801960"/>
          </a:xfrm>
          <a:prstGeom prst="round1Rect">
            <a:avLst>
              <a:gd name="adj" fmla="val 0"/>
            </a:avLst>
          </a:prstGeom>
          <a:solidFill>
            <a:srgbClr val="000000"/>
          </a:solidFill>
          <a:ln w="0">
            <a:noFill/>
          </a:ln>
        </p:spPr>
        <p:style>
          <a:lnRef idx="0">
            <a:scrgbClr r="0" g="0" b="0"/>
          </a:lnRef>
          <a:fillRef idx="0">
            <a:scrgbClr r="0" g="0" b="0"/>
          </a:fillRef>
          <a:effectRef idx="0">
            <a:scrgbClr r="0" g="0" b="0"/>
          </a:effectRef>
          <a:fontRef idx="minor"/>
        </p:style>
      </p:sp>
      <p:sp>
        <p:nvSpPr>
          <p:cNvPr id="12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12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US" sz="2800" b="0" strike="noStrike" spc="-1">
                <a:latin typeface="Arial"/>
              </a:rPr>
              <a:t>Second Outline Level</a:t>
            </a:r>
          </a:p>
          <a:p>
            <a:pPr marL="1296000" lvl="2" indent="-288000">
              <a:spcBef>
                <a:spcPts val="850"/>
              </a:spcBef>
              <a:buClr>
                <a:srgbClr val="FFFFFF"/>
              </a:buClr>
              <a:buSzPct val="45000"/>
              <a:buFont typeface="Wingdings" charset="2"/>
              <a:buChar char=""/>
            </a:pPr>
            <a:r>
              <a:rPr lang="en-US" sz="2400" b="0" strike="noStrike" spc="-1">
                <a:latin typeface="Arial"/>
              </a:rPr>
              <a:t>Third Outline Level</a:t>
            </a:r>
          </a:p>
          <a:p>
            <a:pPr marL="1728000" lvl="3" indent="-216000">
              <a:spcBef>
                <a:spcPts val="567"/>
              </a:spcBef>
              <a:buClr>
                <a:srgbClr val="FFFFFF"/>
              </a:buClr>
              <a:buSzPct val="75000"/>
              <a:buFont typeface="Symbol" charset="2"/>
              <a:buChar char=""/>
            </a:pPr>
            <a:r>
              <a:rPr lang="en-US" sz="2000" b="0" strike="noStrike" spc="-1">
                <a:latin typeface="Arial"/>
              </a:rPr>
              <a:t>Fourth Outline Level</a:t>
            </a:r>
          </a:p>
          <a:p>
            <a:pPr marL="2160000" lvl="4" indent="-216000">
              <a:spcBef>
                <a:spcPts val="283"/>
              </a:spcBef>
              <a:buClr>
                <a:srgbClr val="FFFFFF"/>
              </a:buClr>
              <a:buSzPct val="45000"/>
              <a:buFont typeface="Wingdings" charset="2"/>
              <a:buChar char=""/>
            </a:pPr>
            <a:r>
              <a:rPr lang="en-US" sz="2000" b="0" strike="noStrike" spc="-1">
                <a:latin typeface="Arial"/>
              </a:rPr>
              <a:t>Fifth Outline Level</a:t>
            </a:r>
          </a:p>
          <a:p>
            <a:pPr marL="2592000" lvl="5" indent="-216000">
              <a:spcBef>
                <a:spcPts val="283"/>
              </a:spcBef>
              <a:buClr>
                <a:srgbClr val="FFFFFF"/>
              </a:buClr>
              <a:buSzPct val="45000"/>
              <a:buFont typeface="Wingdings" charset="2"/>
              <a:buChar char=""/>
            </a:pPr>
            <a:r>
              <a:rPr lang="en-US" sz="2000" b="0" strike="noStrike" spc="-1">
                <a:latin typeface="Arial"/>
              </a:rPr>
              <a:t>Sixth Outline Level</a:t>
            </a:r>
          </a:p>
          <a:p>
            <a:pPr marL="3024000" lvl="6" indent="-216000">
              <a:spcBef>
                <a:spcPts val="283"/>
              </a:spcBef>
              <a:buClr>
                <a:srgbClr val="FFFFFF"/>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0E2A22"/>
        </a:solidFill>
        <a:effectLst/>
      </p:bgPr>
    </p:bg>
    <p:spTree>
      <p:nvGrpSpPr>
        <p:cNvPr id="1" name=""/>
        <p:cNvGrpSpPr/>
        <p:nvPr/>
      </p:nvGrpSpPr>
      <p:grpSpPr>
        <a:xfrm>
          <a:off x="0" y="0"/>
          <a:ext cx="0" cy="0"/>
          <a:chOff x="0" y="0"/>
          <a:chExt cx="0" cy="0"/>
        </a:xfrm>
      </p:grpSpPr>
      <p:sp>
        <p:nvSpPr>
          <p:cNvPr id="159" name="Google Shape;71;p15"/>
          <p:cNvSpPr/>
          <p:nvPr/>
        </p:nvSpPr>
        <p:spPr>
          <a:xfrm>
            <a:off x="-230760" y="233640"/>
            <a:ext cx="9678240" cy="360"/>
          </a:xfrm>
          <a:custGeom>
            <a:avLst/>
            <a:gdLst/>
            <a:ahLst/>
            <a:cxnLst/>
            <a:rect l="l" t="t" r="r" b="b"/>
            <a:pathLst>
              <a:path w="21600" h="21600">
                <a:moveTo>
                  <a:pt x="0" y="0"/>
                </a:moveTo>
                <a:lnTo>
                  <a:pt x="21600" y="21600"/>
                </a:lnTo>
              </a:path>
            </a:pathLst>
          </a:custGeom>
          <a:noFill/>
          <a:ln w="9360">
            <a:solidFill>
              <a:srgbClr val="BFCE84"/>
            </a:solidFill>
            <a:round/>
          </a:ln>
        </p:spPr>
        <p:style>
          <a:lnRef idx="0">
            <a:scrgbClr r="0" g="0" b="0"/>
          </a:lnRef>
          <a:fillRef idx="0">
            <a:scrgbClr r="0" g="0" b="0"/>
          </a:fillRef>
          <a:effectRef idx="0">
            <a:scrgbClr r="0" g="0" b="0"/>
          </a:effectRef>
          <a:fontRef idx="minor"/>
        </p:style>
      </p:sp>
      <p:sp>
        <p:nvSpPr>
          <p:cNvPr id="160" name="Google Shape;72;p15"/>
          <p:cNvSpPr/>
          <p:nvPr/>
        </p:nvSpPr>
        <p:spPr>
          <a:xfrm rot="5400000">
            <a:off x="6354720" y="2289600"/>
            <a:ext cx="5181120" cy="563040"/>
          </a:xfrm>
          <a:prstGeom prst="rect">
            <a:avLst/>
          </a:prstGeom>
          <a:solidFill>
            <a:srgbClr val="000000"/>
          </a:solidFill>
          <a:ln w="0">
            <a:noFill/>
          </a:ln>
        </p:spPr>
        <p:style>
          <a:lnRef idx="0">
            <a:scrgbClr r="0" g="0" b="0"/>
          </a:lnRef>
          <a:fillRef idx="0">
            <a:scrgbClr r="0" g="0" b="0"/>
          </a:fillRef>
          <a:effectRef idx="0">
            <a:scrgbClr r="0" g="0" b="0"/>
          </a:effectRef>
          <a:fontRef idx="minor"/>
        </p:style>
      </p:sp>
      <p:sp>
        <p:nvSpPr>
          <p:cNvPr id="16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16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US" sz="2800" b="0" strike="noStrike" spc="-1">
                <a:latin typeface="Arial"/>
              </a:rPr>
              <a:t>Second Outline Level</a:t>
            </a:r>
          </a:p>
          <a:p>
            <a:pPr marL="1296000" lvl="2" indent="-288000">
              <a:spcBef>
                <a:spcPts val="850"/>
              </a:spcBef>
              <a:buClr>
                <a:srgbClr val="FFFFFF"/>
              </a:buClr>
              <a:buSzPct val="45000"/>
              <a:buFont typeface="Wingdings" charset="2"/>
              <a:buChar char=""/>
            </a:pPr>
            <a:r>
              <a:rPr lang="en-US" sz="2400" b="0" strike="noStrike" spc="-1">
                <a:latin typeface="Arial"/>
              </a:rPr>
              <a:t>Third Outline Level</a:t>
            </a:r>
          </a:p>
          <a:p>
            <a:pPr marL="1728000" lvl="3" indent="-216000">
              <a:spcBef>
                <a:spcPts val="567"/>
              </a:spcBef>
              <a:buClr>
                <a:srgbClr val="FFFFFF"/>
              </a:buClr>
              <a:buSzPct val="75000"/>
              <a:buFont typeface="Symbol" charset="2"/>
              <a:buChar char=""/>
            </a:pPr>
            <a:r>
              <a:rPr lang="en-US" sz="2000" b="0" strike="noStrike" spc="-1">
                <a:latin typeface="Arial"/>
              </a:rPr>
              <a:t>Fourth Outline Level</a:t>
            </a:r>
          </a:p>
          <a:p>
            <a:pPr marL="2160000" lvl="4" indent="-216000">
              <a:spcBef>
                <a:spcPts val="283"/>
              </a:spcBef>
              <a:buClr>
                <a:srgbClr val="FFFFFF"/>
              </a:buClr>
              <a:buSzPct val="45000"/>
              <a:buFont typeface="Wingdings" charset="2"/>
              <a:buChar char=""/>
            </a:pPr>
            <a:r>
              <a:rPr lang="en-US" sz="2000" b="0" strike="noStrike" spc="-1">
                <a:latin typeface="Arial"/>
              </a:rPr>
              <a:t>Fifth Outline Level</a:t>
            </a:r>
          </a:p>
          <a:p>
            <a:pPr marL="2592000" lvl="5" indent="-216000">
              <a:spcBef>
                <a:spcPts val="283"/>
              </a:spcBef>
              <a:buClr>
                <a:srgbClr val="FFFFFF"/>
              </a:buClr>
              <a:buSzPct val="45000"/>
              <a:buFont typeface="Wingdings" charset="2"/>
              <a:buChar char=""/>
            </a:pPr>
            <a:r>
              <a:rPr lang="en-US" sz="2000" b="0" strike="noStrike" spc="-1">
                <a:latin typeface="Arial"/>
              </a:rPr>
              <a:t>Sixth Outline Level</a:t>
            </a:r>
          </a:p>
          <a:p>
            <a:pPr marL="3024000" lvl="6" indent="-216000">
              <a:spcBef>
                <a:spcPts val="283"/>
              </a:spcBef>
              <a:buClr>
                <a:srgbClr val="FFFFFF"/>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adilmohammed360.github.io/Learn-MERN-Fundamentals/" TargetMode="External"/><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AadilMohammed360/Learn-MERN-Fundamentals" TargetMode="External"/><Relationship Id="rId2" Type="http://schemas.openxmlformats.org/officeDocument/2006/relationships/hyperlink" Target="https://aadilmohammed360.github.io/Learn-MERN-Fundamentals/" TargetMode="External"/><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aadilmohammed360.github.io/Learn-MERN-Fundamentals/" TargetMode="Externa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3.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5.xml"/></Relationships>
</file>

<file path=ppt/slides/_rels/slide6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5.xml"/></Relationships>
</file>

<file path=ppt/slides/_rels/slide6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5.xml"/></Relationships>
</file>

<file path=ppt/slides/_rels/slide6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5.xml"/></Relationships>
</file>

<file path=ppt/slides/_rels/slide6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53.xml"/></Relationships>
</file>

<file path=ppt/slides/_rels/slide7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9.xml"/></Relationships>
</file>

<file path=ppt/slides/_rels/slide7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5.xml"/></Relationships>
</file>

<file path=ppt/slides/_rels/slide78.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64.png"/><Relationship Id="rId1" Type="http://schemas.openxmlformats.org/officeDocument/2006/relationships/slideLayout" Target="../slideLayouts/slideLayout37.xml"/><Relationship Id="rId4" Type="http://schemas.openxmlformats.org/officeDocument/2006/relationships/hyperlink" Target="http://bit.ly/2TtBDf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714240" y="657360"/>
            <a:ext cx="4256640" cy="1560960"/>
          </a:xfrm>
          <a:prstGeom prst="rect">
            <a:avLst/>
          </a:prstGeom>
          <a:noFill/>
          <a:ln w="0">
            <a:noFill/>
          </a:ln>
        </p:spPr>
        <p:txBody>
          <a:bodyPr lIns="0" tIns="91440" rIns="0" bIns="91440" anchor="b">
            <a:normAutofit fontScale="90000"/>
          </a:bodyPr>
          <a:lstStyle/>
          <a:p>
            <a:pPr>
              <a:lnSpc>
                <a:spcPct val="100000"/>
              </a:lnSpc>
              <a:tabLst>
                <a:tab pos="0" algn="l"/>
              </a:tabLst>
            </a:pPr>
            <a:r>
              <a:rPr lang="en-US" sz="5000" b="0" strike="noStrike" spc="-1">
                <a:solidFill>
                  <a:srgbClr val="BFCE84"/>
                </a:solidFill>
                <a:latin typeface="Atkinson Hyperlegible Next SemiBold"/>
                <a:ea typeface="Atkinson Hyperlegible Next SemiBold"/>
              </a:rPr>
              <a:t>MERN </a:t>
            </a:r>
            <a:r>
              <a:rPr lang="en-US" sz="5000" spc="-1">
                <a:solidFill>
                  <a:srgbClr val="BFCE84"/>
                </a:solidFill>
                <a:latin typeface="Atkinson Hyperlegible Next SemiBold"/>
                <a:ea typeface="Atkinson Hyperlegible Next SemiBold"/>
              </a:rPr>
              <a:t>Stack Workshop</a:t>
            </a:r>
            <a:endParaRPr lang="en-US" sz="5000" b="0" strike="noStrike" spc="-1">
              <a:latin typeface="Arial"/>
            </a:endParaRPr>
          </a:p>
        </p:txBody>
      </p:sp>
      <p:sp>
        <p:nvSpPr>
          <p:cNvPr id="200" name="PlaceHolder 2"/>
          <p:cNvSpPr>
            <a:spLocks noGrp="1"/>
          </p:cNvSpPr>
          <p:nvPr>
            <p:ph type="subTitle"/>
          </p:nvPr>
        </p:nvSpPr>
        <p:spPr>
          <a:xfrm>
            <a:off x="714240" y="2381400"/>
            <a:ext cx="4256640" cy="379800"/>
          </a:xfrm>
          <a:prstGeom prst="rect">
            <a:avLst/>
          </a:prstGeom>
          <a:noFill/>
          <a:ln w="0">
            <a:noFill/>
          </a:ln>
        </p:spPr>
        <p:txBody>
          <a:bodyPr lIns="0" tIns="91440" rIns="0" bIns="91440" anchor="t">
            <a:normAutofit fontScale="81000" lnSpcReduction="10000"/>
          </a:bodyPr>
          <a:lstStyle/>
          <a:p>
            <a:pPr>
              <a:lnSpc>
                <a:spcPct val="100000"/>
              </a:lnSpc>
              <a:tabLst>
                <a:tab pos="0" algn="l"/>
              </a:tabLst>
            </a:pPr>
            <a:r>
              <a:rPr lang="en-US" sz="1600" spc="-1">
                <a:solidFill>
                  <a:srgbClr val="BFCE84"/>
                </a:solidFill>
                <a:latin typeface="Albert Sans"/>
              </a:rPr>
              <a:t>Covering elementary concepts behind a basic MERN project</a:t>
            </a:r>
            <a:endParaRPr lang="en-US"/>
          </a:p>
        </p:txBody>
      </p:sp>
      <p:sp>
        <p:nvSpPr>
          <p:cNvPr id="201" name="Google Shape;133;p27"/>
          <p:cNvSpPr/>
          <p:nvPr/>
        </p:nvSpPr>
        <p:spPr>
          <a:xfrm>
            <a:off x="5400000" y="0"/>
            <a:ext cx="3742920" cy="5142600"/>
          </a:xfrm>
          <a:prstGeom prst="round1Rect">
            <a:avLst>
              <a:gd name="adj" fmla="val 50000"/>
            </a:avLst>
          </a:prstGeom>
          <a:blipFill rotWithShape="0">
            <a:blip r:embed="rId2"/>
            <a:srcRect/>
            <a:stretch/>
          </a:blipFill>
          <a:ln w="0">
            <a:noFill/>
          </a:ln>
        </p:spPr>
        <p:style>
          <a:lnRef idx="0">
            <a:scrgbClr r="0" g="0" b="0"/>
          </a:lnRef>
          <a:fillRef idx="0">
            <a:scrgbClr r="0" g="0" b="0"/>
          </a:fillRef>
          <a:effectRef idx="0">
            <a:scrgbClr r="0" g="0" b="0"/>
          </a:effectRef>
          <a:fontRef idx="minor"/>
        </p:style>
      </p:sp>
      <p:sp>
        <p:nvSpPr>
          <p:cNvPr id="202" name="Google Shape;134;p27"/>
          <p:cNvSpPr/>
          <p:nvPr/>
        </p:nvSpPr>
        <p:spPr>
          <a:xfrm>
            <a:off x="714240" y="4230610"/>
            <a:ext cx="1754331" cy="153888"/>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algn="ctr">
              <a:lnSpc>
                <a:spcPct val="100000"/>
              </a:lnSpc>
              <a:buNone/>
              <a:tabLst>
                <a:tab pos="0" algn="l"/>
              </a:tabLst>
            </a:pPr>
            <a:r>
              <a:rPr lang="en" sz="1000" spc="-1">
                <a:solidFill>
                  <a:schemeClr val="bg2">
                    <a:lumMod val="49000"/>
                  </a:schemeClr>
                </a:solidFill>
                <a:ea typeface="+mn-lt"/>
                <a:cs typeface="+mn-lt"/>
                <a:hlinkClick r:id="rId3">
                  <a:extLst>
                    <a:ext uri="{A12FA001-AC4F-418D-AE19-62706E023703}">
                      <ahyp:hlinkClr xmlns:ahyp="http://schemas.microsoft.com/office/drawing/2018/hyperlinkcolor" val="tx"/>
                    </a:ext>
                  </a:extLst>
                </a:hlinkClick>
              </a:rPr>
              <a:t>aadilmohammed360.github.io</a:t>
            </a:r>
            <a:endParaRPr lang="en" sz="1000" spc="-1">
              <a:solidFill>
                <a:schemeClr val="bg2">
                  <a:lumMod val="49000"/>
                </a:schemeClr>
              </a:solidFill>
              <a:cs typeface="Arial"/>
              <a:hlinkClick r:id="rId3">
                <a:extLst>
                  <a:ext uri="{A12FA001-AC4F-418D-AE19-62706E023703}">
                    <ahyp:hlinkClr xmlns:ahyp="http://schemas.microsoft.com/office/drawing/2018/hyperlinkcolor" val="tx"/>
                  </a:ext>
                </a:extLst>
              </a:hlinkClick>
            </a:endParaRPr>
          </a:p>
        </p:txBody>
      </p:sp>
      <p:sp>
        <p:nvSpPr>
          <p:cNvPr id="203" name="Google Shape;135;p27"/>
          <p:cNvSpPr/>
          <p:nvPr/>
        </p:nvSpPr>
        <p:spPr>
          <a:xfrm>
            <a:off x="2219400" y="4229280"/>
            <a:ext cx="105624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939ED-DCF7-D383-9F18-73E9882016A0}"/>
              </a:ext>
            </a:extLst>
          </p:cNvPr>
          <p:cNvSpPr>
            <a:spLocks noGrp="1"/>
          </p:cNvSpPr>
          <p:nvPr>
            <p:ph type="title"/>
          </p:nvPr>
        </p:nvSpPr>
        <p:spPr/>
        <p:txBody>
          <a:bodyPr/>
          <a:lstStyle/>
          <a:p>
            <a:r>
              <a:rPr lang="en-US" sz="2400">
                <a:solidFill>
                  <a:schemeClr val="accent3">
                    <a:lumMod val="60000"/>
                    <a:lumOff val="40000"/>
                  </a:schemeClr>
                </a:solidFill>
              </a:rPr>
              <a:t>Credits</a:t>
            </a:r>
          </a:p>
        </p:txBody>
      </p:sp>
      <p:sp>
        <p:nvSpPr>
          <p:cNvPr id="3" name="Content Placeholder 2">
            <a:extLst>
              <a:ext uri="{FF2B5EF4-FFF2-40B4-BE49-F238E27FC236}">
                <a16:creationId xmlns:a16="http://schemas.microsoft.com/office/drawing/2014/main" id="{52C77A6F-3DB9-F393-1A9F-FCEA9EA22468}"/>
              </a:ext>
            </a:extLst>
          </p:cNvPr>
          <p:cNvSpPr>
            <a:spLocks noGrp="1"/>
          </p:cNvSpPr>
          <p:nvPr>
            <p:ph/>
          </p:nvPr>
        </p:nvSpPr>
        <p:spPr>
          <a:xfrm>
            <a:off x="457200" y="1062450"/>
            <a:ext cx="8229240" cy="1702242"/>
          </a:xfrm>
        </p:spPr>
        <p:txBody>
          <a:bodyPr/>
          <a:lstStyle/>
          <a:p>
            <a:pPr>
              <a:lnSpc>
                <a:spcPct val="150000"/>
              </a:lnSpc>
            </a:pPr>
            <a:r>
              <a:rPr lang="en-US" sz="1800">
                <a:solidFill>
                  <a:schemeClr val="bg2">
                    <a:lumMod val="76000"/>
                  </a:schemeClr>
                </a:solidFill>
              </a:rPr>
              <a:t>Instructor: Aadil</a:t>
            </a:r>
            <a:endParaRPr lang="en-US"/>
          </a:p>
          <a:p>
            <a:pPr>
              <a:lnSpc>
                <a:spcPct val="150000"/>
              </a:lnSpc>
            </a:pPr>
            <a:r>
              <a:rPr lang="en-US" sz="1800">
                <a:solidFill>
                  <a:schemeClr val="bg2">
                    <a:lumMod val="76000"/>
                  </a:schemeClr>
                </a:solidFill>
              </a:rPr>
              <a:t>Supervisor: Prof. Rajitha</a:t>
            </a:r>
          </a:p>
        </p:txBody>
      </p:sp>
    </p:spTree>
    <p:extLst>
      <p:ext uri="{BB962C8B-B14F-4D97-AF65-F5344CB8AC3E}">
        <p14:creationId xmlns:p14="http://schemas.microsoft.com/office/powerpoint/2010/main" val="1503529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Introduction</a:t>
            </a:r>
            <a:endParaRPr lang="en-US" sz="2600" b="0" strike="noStrike" spc="-1">
              <a:latin typeface="Arial"/>
            </a:endParaRPr>
          </a:p>
        </p:txBody>
      </p:sp>
      <p:sp>
        <p:nvSpPr>
          <p:cNvPr id="205"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fontScale="91000"/>
          </a:bodyPr>
          <a:lstStyle/>
          <a:p>
            <a:pPr>
              <a:lnSpc>
                <a:spcPct val="150000"/>
              </a:lnSpc>
              <a:buNone/>
              <a:tabLst>
                <a:tab pos="0" algn="l"/>
              </a:tabLst>
            </a:pPr>
            <a:r>
              <a:rPr lang="en-US" sz="1200" b="0" strike="noStrike" spc="-1">
                <a:solidFill>
                  <a:srgbClr val="BFCE84"/>
                </a:solidFill>
                <a:latin typeface="Albert Sans"/>
                <a:ea typeface="Albert Sans"/>
              </a:rPr>
              <a:t>In this presentation, </a:t>
            </a:r>
            <a:r>
              <a:rPr lang="en-US" sz="1200" spc="-1">
                <a:solidFill>
                  <a:srgbClr val="BFCE84"/>
                </a:solidFill>
                <a:latin typeface="Albert Sans"/>
                <a:ea typeface="Albert Sans"/>
              </a:rPr>
              <a:t>we will</a:t>
            </a:r>
            <a:r>
              <a:rPr lang="en-US" sz="1200" b="0" strike="noStrike" spc="-1">
                <a:solidFill>
                  <a:srgbClr val="BFCE84"/>
                </a:solidFill>
                <a:latin typeface="Albert Sans"/>
                <a:ea typeface="Albert Sans"/>
              </a:rPr>
              <a:t> walk </a:t>
            </a:r>
            <a:r>
              <a:rPr lang="en-US" sz="1200" spc="-1">
                <a:solidFill>
                  <a:srgbClr val="BFCE84"/>
                </a:solidFill>
                <a:latin typeface="Albert Sans"/>
                <a:ea typeface="Albert Sans"/>
              </a:rPr>
              <a:t>you through</a:t>
            </a:r>
            <a:r>
              <a:rPr lang="en-US" sz="1200" b="0" strike="noStrike" spc="-1">
                <a:solidFill>
                  <a:srgbClr val="BFCE84"/>
                </a:solidFill>
                <a:latin typeface="Albert Sans"/>
                <a:ea typeface="Albert Sans"/>
              </a:rPr>
              <a:t> setting up your MERN development environment from scratch on Windows. </a:t>
            </a:r>
            <a:r>
              <a:rPr lang="en-US" sz="1200" b="0" strike="noStrike" spc="-1" err="1">
                <a:solidFill>
                  <a:srgbClr val="BFCE84"/>
                </a:solidFill>
                <a:latin typeface="Albert Sans"/>
                <a:ea typeface="Albert Sans"/>
              </a:rPr>
              <a:t>Youll</a:t>
            </a:r>
            <a:r>
              <a:rPr lang="en-US" sz="1200" b="0" strike="noStrike" spc="-1">
                <a:solidFill>
                  <a:srgbClr val="BFCE84"/>
                </a:solidFill>
                <a:latin typeface="Albert Sans"/>
                <a:ea typeface="Albert Sans"/>
              </a:rPr>
              <a:t> learn how to organize project folders, install Node.js and MongoDB, and troubleshoot common installation issues. Well also cover running the backend and frontend servers to get your project up and running smoothly.</a:t>
            </a:r>
            <a:endParaRPr lang="en-US" sz="1200" b="0" strike="noStrike" spc="-1">
              <a:latin typeface="Arial"/>
            </a:endParaRPr>
          </a:p>
        </p:txBody>
      </p:sp>
      <p:sp>
        <p:nvSpPr>
          <p:cNvPr id="206" name="Google Shape;176;p31"/>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Topics Covered</a:t>
            </a:r>
            <a:endParaRPr lang="en-US" sz="2600" b="0" strike="noStrike" spc="-1">
              <a:latin typeface="Arial"/>
            </a:endParaRPr>
          </a:p>
        </p:txBody>
      </p:sp>
      <p:sp>
        <p:nvSpPr>
          <p:cNvPr id="208" name="TextBox 207"/>
          <p:cNvSpPr txBox="1"/>
          <p:nvPr/>
        </p:nvSpPr>
        <p:spPr>
          <a:xfrm>
            <a:off x="914400" y="1083600"/>
            <a:ext cx="6858000" cy="3953880"/>
          </a:xfrm>
          <a:prstGeom prst="rect">
            <a:avLst/>
          </a:prstGeom>
          <a:noFill/>
          <a:ln w="0">
            <a:noFill/>
          </a:ln>
        </p:spPr>
        <p:txBody>
          <a:bodyPr lIns="90000" tIns="45000" rIns="90000" bIns="45000" anchor="t">
            <a:noAutofit/>
          </a:bodyPr>
          <a:lstStyle/>
          <a:p>
            <a:pPr marL="215900" indent="-215900">
              <a:lnSpc>
                <a:spcPct val="100000"/>
              </a:lnSpc>
              <a:spcBef>
                <a:spcPts val="567"/>
              </a:spcBef>
              <a:spcAft>
                <a:spcPts val="567"/>
              </a:spcAft>
              <a:buClr>
                <a:srgbClr val="94BD5E"/>
              </a:buClr>
              <a:buFont typeface="StarSymbol"/>
              <a:buAutoNum type="arabicPeriod"/>
            </a:pPr>
            <a:r>
              <a:rPr lang="en-US" sz="1800" b="0" strike="noStrike" spc="-1">
                <a:solidFill>
                  <a:srgbClr val="94BD5E"/>
                </a:solidFill>
                <a:latin typeface="Arial"/>
                <a:ea typeface="Microsoft YaHei"/>
              </a:rPr>
              <a:t>Installation of tools for MERN development</a:t>
            </a:r>
            <a:endParaRPr lang="en-US" sz="1800" b="0" strike="noStrike" spc="-1">
              <a:latin typeface="Arial"/>
            </a:endParaRPr>
          </a:p>
          <a:p>
            <a:pPr marL="215900" indent="-215900">
              <a:lnSpc>
                <a:spcPct val="100000"/>
              </a:lnSpc>
              <a:spcBef>
                <a:spcPts val="567"/>
              </a:spcBef>
              <a:spcAft>
                <a:spcPts val="567"/>
              </a:spcAft>
              <a:buClr>
                <a:srgbClr val="94BD5E"/>
              </a:buClr>
              <a:buFont typeface="StarSymbol"/>
              <a:buAutoNum type="arabicPeriod"/>
            </a:pPr>
            <a:r>
              <a:rPr lang="en-US" sz="1800" b="0" strike="noStrike" spc="-1">
                <a:solidFill>
                  <a:srgbClr val="94BD5E"/>
                </a:solidFill>
                <a:latin typeface="Arial"/>
                <a:ea typeface="Microsoft YaHei"/>
              </a:rPr>
              <a:t>Verifying error free installation and troubleshooting with fixes</a:t>
            </a:r>
            <a:endParaRPr lang="en-US" sz="1800" b="0" strike="noStrike" spc="-1">
              <a:latin typeface="Arial"/>
            </a:endParaRPr>
          </a:p>
          <a:p>
            <a:pPr marL="215900" indent="-215900">
              <a:lnSpc>
                <a:spcPct val="100000"/>
              </a:lnSpc>
              <a:spcBef>
                <a:spcPts val="567"/>
              </a:spcBef>
              <a:spcAft>
                <a:spcPts val="567"/>
              </a:spcAft>
              <a:buClr>
                <a:srgbClr val="94BD5E"/>
              </a:buClr>
              <a:buFont typeface="StarSymbol"/>
              <a:buAutoNum type="arabicPeriod"/>
            </a:pPr>
            <a:r>
              <a:rPr lang="en-US" sz="1800" b="0" strike="noStrike" spc="-1">
                <a:solidFill>
                  <a:srgbClr val="94BD5E"/>
                </a:solidFill>
                <a:latin typeface="Arial"/>
                <a:ea typeface="Microsoft YaHei"/>
              </a:rPr>
              <a:t>Setting the development environment and folder structure</a:t>
            </a:r>
            <a:endParaRPr lang="en-US" sz="1800" b="0" strike="noStrike" spc="-1">
              <a:latin typeface="Arial"/>
            </a:endParaRPr>
          </a:p>
          <a:p>
            <a:pPr marL="215900" indent="-215900">
              <a:spcBef>
                <a:spcPts val="567"/>
              </a:spcBef>
              <a:spcAft>
                <a:spcPts val="567"/>
              </a:spcAft>
              <a:buClr>
                <a:srgbClr val="94BD5E"/>
              </a:buClr>
              <a:buFont typeface="StarSymbol"/>
              <a:buAutoNum type="arabicPeriod"/>
            </a:pPr>
            <a:r>
              <a:rPr lang="en-US" sz="1800" b="0" strike="noStrike" spc="-1">
                <a:solidFill>
                  <a:srgbClr val="94BD5E"/>
                </a:solidFill>
                <a:latin typeface="Arial"/>
                <a:ea typeface="Microsoft YaHei"/>
              </a:rPr>
              <a:t>Learning how to use </a:t>
            </a:r>
            <a:r>
              <a:rPr lang="en-US" sz="1800" b="0" strike="noStrike" spc="-1" err="1">
                <a:solidFill>
                  <a:srgbClr val="94BD5E"/>
                </a:solidFill>
                <a:latin typeface="Arial"/>
                <a:ea typeface="Microsoft YaHei"/>
              </a:rPr>
              <a:t>Mongodb</a:t>
            </a:r>
            <a:r>
              <a:rPr lang="en-US" sz="1800" b="0" strike="noStrike" spc="-1">
                <a:solidFill>
                  <a:srgbClr val="94BD5E"/>
                </a:solidFill>
                <a:latin typeface="Arial"/>
                <a:ea typeface="Microsoft YaHei"/>
              </a:rPr>
              <a:t> Compass to insert records in database</a:t>
            </a:r>
            <a:r>
              <a:rPr lang="en-US" spc="-1">
                <a:solidFill>
                  <a:srgbClr val="94BD5E"/>
                </a:solidFill>
                <a:latin typeface="Arial"/>
                <a:ea typeface="Microsoft YaHei"/>
              </a:rPr>
              <a:t> and enforce strict schema using Mongoose</a:t>
            </a:r>
            <a:endParaRPr lang="en-US" sz="1800" b="0" strike="noStrike" spc="-1">
              <a:latin typeface="Arial"/>
            </a:endParaRPr>
          </a:p>
          <a:p>
            <a:pPr marL="215900" indent="-215900">
              <a:lnSpc>
                <a:spcPct val="100000"/>
              </a:lnSpc>
              <a:spcBef>
                <a:spcPts val="567"/>
              </a:spcBef>
              <a:spcAft>
                <a:spcPts val="567"/>
              </a:spcAft>
              <a:buClr>
                <a:srgbClr val="94BD5E"/>
              </a:buClr>
              <a:buFont typeface="StarSymbol"/>
              <a:buAutoNum type="arabicPeriod"/>
            </a:pPr>
            <a:r>
              <a:rPr lang="en-US" sz="1800" b="0" strike="noStrike" spc="-1">
                <a:solidFill>
                  <a:srgbClr val="94BD5E"/>
                </a:solidFill>
                <a:latin typeface="Arial"/>
                <a:ea typeface="Microsoft YaHei"/>
              </a:rPr>
              <a:t>Programming Express backend to communicate with backend and perform CRUD operations</a:t>
            </a:r>
            <a:endParaRPr lang="en-US" sz="1800" b="0" strike="noStrike" spc="-1">
              <a:latin typeface="Arial"/>
            </a:endParaRPr>
          </a:p>
          <a:p>
            <a:pPr marL="215900" indent="-215900">
              <a:spcBef>
                <a:spcPts val="567"/>
              </a:spcBef>
              <a:spcAft>
                <a:spcPts val="567"/>
              </a:spcAft>
              <a:buClr>
                <a:srgbClr val="94BD5E"/>
              </a:buClr>
              <a:buFont typeface="StarSymbol"/>
              <a:buAutoNum type="arabicPeriod"/>
            </a:pPr>
            <a:r>
              <a:rPr lang="en-US" sz="1800" b="0" strike="noStrike" spc="-1">
                <a:solidFill>
                  <a:srgbClr val="94BD5E"/>
                </a:solidFill>
                <a:latin typeface="Arial"/>
                <a:ea typeface="Microsoft YaHei"/>
              </a:rPr>
              <a:t>Building Frontend Interface </a:t>
            </a:r>
            <a:r>
              <a:rPr lang="en-US" spc="-1">
                <a:solidFill>
                  <a:srgbClr val="94BD5E"/>
                </a:solidFill>
                <a:latin typeface="Arial"/>
                <a:ea typeface="Microsoft YaHei"/>
              </a:rPr>
              <a:t>using React </a:t>
            </a:r>
            <a:r>
              <a:rPr lang="en-US" sz="1800" b="0" strike="noStrike" spc="-1">
                <a:solidFill>
                  <a:srgbClr val="94BD5E"/>
                </a:solidFill>
                <a:latin typeface="Arial"/>
                <a:ea typeface="Microsoft YaHei"/>
              </a:rPr>
              <a:t>to control backend and manipulate database using forms and buttons</a:t>
            </a:r>
            <a:endParaRPr lang="en-US" sz="1800" b="0" strike="noStrike" spc="-1">
              <a:latin typeface="Arial"/>
            </a:endParaRPr>
          </a:p>
          <a:p>
            <a:endParaRPr lang="en-US" sz="1800" b="0" strike="noStrike" spc="-1">
              <a:latin typeface="Arial"/>
            </a:endParaRPr>
          </a:p>
          <a:p>
            <a:endParaRPr lang="en-US" sz="1800" b="0" strike="noStrike" spc="-1">
              <a:latin typeface="Arial"/>
            </a:endParaRPr>
          </a:p>
          <a:p>
            <a:endParaRPr lang="en-US" sz="1800" b="0" strike="noStrike" spc="-1">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5E408-455C-B5E8-4F79-8967DBD85E0C}"/>
            </a:ext>
          </a:extLst>
        </p:cNvPr>
        <p:cNvGrpSpPr/>
        <p:nvPr/>
      </p:nvGrpSpPr>
      <p:grpSpPr>
        <a:xfrm>
          <a:off x="0" y="0"/>
          <a:ext cx="0" cy="0"/>
          <a:chOff x="0" y="0"/>
          <a:chExt cx="0" cy="0"/>
        </a:xfrm>
      </p:grpSpPr>
      <p:sp>
        <p:nvSpPr>
          <p:cNvPr id="207" name="PlaceHolder 1">
            <a:extLst>
              <a:ext uri="{FF2B5EF4-FFF2-40B4-BE49-F238E27FC236}">
                <a16:creationId xmlns:a16="http://schemas.microsoft.com/office/drawing/2014/main" id="{298F7B0B-F0D0-C7F8-B094-265421EC08CD}"/>
              </a:ext>
            </a:extLst>
          </p:cNvPr>
          <p:cNvSpPr>
            <a:spLocks noGrp="1"/>
          </p:cNvSpPr>
          <p:nvPr>
            <p:ph type="title"/>
          </p:nvPr>
        </p:nvSpPr>
        <p:spPr>
          <a:xfrm>
            <a:off x="723960" y="447840"/>
            <a:ext cx="4761360" cy="856080"/>
          </a:xfrm>
          <a:prstGeom prst="rect">
            <a:avLst/>
          </a:prstGeom>
          <a:noFill/>
          <a:ln w="0">
            <a:noFill/>
          </a:ln>
        </p:spPr>
        <p:txBody>
          <a:bodyPr lIns="90000" tIns="91440" rIns="90000" bIns="91440" anchor="t">
            <a:normAutofit/>
          </a:bodyPr>
          <a:lstStyle/>
          <a:p>
            <a:pPr>
              <a:lnSpc>
                <a:spcPct val="100000"/>
              </a:lnSpc>
              <a:tabLst>
                <a:tab pos="0" algn="l"/>
              </a:tabLst>
            </a:pPr>
            <a:r>
              <a:rPr lang="en-US" sz="2600" spc="-1">
                <a:solidFill>
                  <a:srgbClr val="BFCE84"/>
                </a:solidFill>
                <a:latin typeface="Atkinson Hyperlegible Next SemiBold"/>
              </a:rPr>
              <a:t>Workshop Materials</a:t>
            </a:r>
          </a:p>
        </p:txBody>
      </p:sp>
      <p:sp>
        <p:nvSpPr>
          <p:cNvPr id="208" name="TextBox 207">
            <a:extLst>
              <a:ext uri="{FF2B5EF4-FFF2-40B4-BE49-F238E27FC236}">
                <a16:creationId xmlns:a16="http://schemas.microsoft.com/office/drawing/2014/main" id="{B9A0A1A2-3B65-EE27-C761-60D2A9D5C325}"/>
              </a:ext>
            </a:extLst>
          </p:cNvPr>
          <p:cNvSpPr txBox="1"/>
          <p:nvPr/>
        </p:nvSpPr>
        <p:spPr>
          <a:xfrm>
            <a:off x="914400" y="1083600"/>
            <a:ext cx="6858000" cy="2155746"/>
          </a:xfrm>
          <a:prstGeom prst="rect">
            <a:avLst/>
          </a:prstGeom>
          <a:noFill/>
          <a:ln w="0">
            <a:noFill/>
          </a:ln>
        </p:spPr>
        <p:txBody>
          <a:bodyPr lIns="90000" tIns="45000" rIns="90000" bIns="45000" anchor="t">
            <a:noAutofit/>
          </a:bodyPr>
          <a:lstStyle/>
          <a:p>
            <a:pPr marL="215900" indent="-215900">
              <a:spcBef>
                <a:spcPts val="567"/>
              </a:spcBef>
              <a:spcAft>
                <a:spcPts val="567"/>
              </a:spcAft>
              <a:buClr>
                <a:srgbClr val="94BD5E"/>
              </a:buClr>
              <a:buAutoNum type="arabicPeriod"/>
            </a:pPr>
            <a:r>
              <a:rPr lang="en-US" spc="-1">
                <a:solidFill>
                  <a:srgbClr val="94BD5E"/>
                </a:solidFill>
                <a:latin typeface="Arial"/>
                <a:ea typeface="Microsoft YaHei"/>
              </a:rPr>
              <a:t>Blog at </a:t>
            </a:r>
            <a:r>
              <a:rPr lang="en-US" spc="-1">
                <a:solidFill>
                  <a:srgbClr val="EBE97A"/>
                </a:solidFill>
                <a:latin typeface="Arial"/>
                <a:ea typeface="Microsoft YaHei"/>
                <a:cs typeface="Arial"/>
                <a:hlinkClick r:id="rId2">
                  <a:extLst>
                    <a:ext uri="{A12FA001-AC4F-418D-AE19-62706E023703}">
                      <ahyp:hlinkClr xmlns:ahyp="http://schemas.microsoft.com/office/drawing/2018/hyperlinkcolor" val="tx"/>
                    </a:ext>
                  </a:extLst>
                </a:hlinkClick>
              </a:rPr>
              <a:t>https://aadilmohammed360.github.io/Learn-MERN-Fundamentals/</a:t>
            </a:r>
            <a:endParaRPr lang="en-US" sz="1800" b="0" strike="noStrike" spc="-1">
              <a:solidFill>
                <a:srgbClr val="EBE97A"/>
              </a:solidFill>
              <a:latin typeface="Arial"/>
              <a:ea typeface="Microsoft YaHei"/>
              <a:hlinkClick r:id="rId2">
                <a:extLst>
                  <a:ext uri="{A12FA001-AC4F-418D-AE19-62706E023703}">
                    <ahyp:hlinkClr xmlns:ahyp="http://schemas.microsoft.com/office/drawing/2018/hyperlinkcolor" val="tx"/>
                  </a:ext>
                </a:extLst>
              </a:hlinkClick>
            </a:endParaRPr>
          </a:p>
          <a:p>
            <a:pPr marL="215900" indent="-215900">
              <a:spcBef>
                <a:spcPts val="567"/>
              </a:spcBef>
              <a:spcAft>
                <a:spcPts val="567"/>
              </a:spcAft>
              <a:buClr>
                <a:srgbClr val="94BD5E"/>
              </a:buClr>
              <a:buAutoNum type="arabicPeriod"/>
            </a:pPr>
            <a:r>
              <a:rPr lang="en-US" spc="-1">
                <a:solidFill>
                  <a:srgbClr val="94BD5E"/>
                </a:solidFill>
                <a:latin typeface="Arial"/>
                <a:ea typeface="Microsoft YaHei"/>
              </a:rPr>
              <a:t>Github Repo with Final Source code at </a:t>
            </a:r>
            <a:r>
              <a:rPr lang="en-US" spc="-1">
                <a:solidFill>
                  <a:srgbClr val="EBE97A"/>
                </a:solidFill>
                <a:ea typeface="+mn-lt"/>
                <a:cs typeface="+mn-lt"/>
                <a:hlinkClick r:id="rId3">
                  <a:extLst>
                    <a:ext uri="{A12FA001-AC4F-418D-AE19-62706E023703}">
                      <ahyp:hlinkClr xmlns:ahyp="http://schemas.microsoft.com/office/drawing/2018/hyperlinkcolor" val="tx"/>
                    </a:ext>
                  </a:extLst>
                </a:hlinkClick>
              </a:rPr>
              <a:t>https://github.com/AadilMohammed360/Learn-MERN-Fundamentals</a:t>
            </a:r>
            <a:endParaRPr lang="en-US" sz="1800" b="0" strike="noStrike" spc="-1">
              <a:solidFill>
                <a:srgbClr val="EBE97A"/>
              </a:solidFill>
              <a:ea typeface="+mn-lt"/>
              <a:cs typeface="+mn-lt"/>
              <a:hlinkClick r:id="rId3">
                <a:extLst>
                  <a:ext uri="{A12FA001-AC4F-418D-AE19-62706E023703}">
                    <ahyp:hlinkClr xmlns:ahyp="http://schemas.microsoft.com/office/drawing/2018/hyperlinkcolor" val="tx"/>
                  </a:ext>
                </a:extLst>
              </a:hlinkClick>
            </a:endParaRPr>
          </a:p>
          <a:p>
            <a:pPr>
              <a:lnSpc>
                <a:spcPct val="100000"/>
              </a:lnSpc>
            </a:pPr>
            <a:endParaRPr lang="en-US" sz="1800" b="0" strike="noStrike" spc="-1">
              <a:latin typeface="Arial"/>
            </a:endParaRPr>
          </a:p>
          <a:p>
            <a:endParaRPr lang="en-US" sz="1800" b="0" strike="noStrike" spc="-1">
              <a:latin typeface="Arial"/>
            </a:endParaRPr>
          </a:p>
          <a:p>
            <a:endParaRPr lang="en-US" sz="1800" b="0" strike="noStrike" spc="-1">
              <a:latin typeface="Arial"/>
            </a:endParaRPr>
          </a:p>
        </p:txBody>
      </p:sp>
    </p:spTree>
    <p:extLst>
      <p:ext uri="{BB962C8B-B14F-4D97-AF65-F5344CB8AC3E}">
        <p14:creationId xmlns:p14="http://schemas.microsoft.com/office/powerpoint/2010/main" val="2526013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SemiBold"/>
              </a:rPr>
              <a:t>What is MERN Stack ?</a:t>
            </a:r>
            <a:endParaRPr lang="en-US" sz="2600" b="0" strike="noStrike" spc="-1">
              <a:latin typeface="Arial"/>
            </a:endParaRPr>
          </a:p>
        </p:txBody>
      </p:sp>
      <p:sp>
        <p:nvSpPr>
          <p:cNvPr id="210" name="TextBox 209"/>
          <p:cNvSpPr txBox="1"/>
          <p:nvPr/>
        </p:nvSpPr>
        <p:spPr>
          <a:xfrm>
            <a:off x="1371600" y="1600200"/>
            <a:ext cx="5257800" cy="2514600"/>
          </a:xfrm>
          <a:prstGeom prst="rect">
            <a:avLst/>
          </a:prstGeom>
          <a:noFill/>
          <a:ln w="0">
            <a:noFill/>
          </a:ln>
        </p:spPr>
        <p:txBody>
          <a:bodyPr lIns="90000" tIns="45000" rIns="90000" bIns="45000" anchor="t">
            <a:noAutofit/>
          </a:bodyPr>
          <a:lstStyle/>
          <a:p>
            <a:r>
              <a:rPr lang="en-US" sz="1800" b="0" strike="noStrike" spc="-1">
                <a:solidFill>
                  <a:srgbClr val="94BD5E"/>
                </a:solidFill>
                <a:latin typeface="Arial"/>
              </a:rPr>
              <a:t>Consider a builders a toolbox , it wil have various tools like hammer, spanner, saw, screwdriver etc</a:t>
            </a:r>
            <a:endParaRPr lang="en-US" sz="1800" b="0" strike="noStrike" spc="-1">
              <a:latin typeface="Arial"/>
            </a:endParaRPr>
          </a:p>
          <a:p>
            <a:endParaRPr lang="en-US" sz="1800" b="0" strike="noStrike" spc="-1">
              <a:latin typeface="Arial"/>
            </a:endParaRPr>
          </a:p>
          <a:p>
            <a:r>
              <a:rPr lang="en-US" sz="1800" b="0" strike="noStrike" spc="-1">
                <a:solidFill>
                  <a:srgbClr val="94BD5E"/>
                </a:solidFill>
                <a:latin typeface="Arial"/>
              </a:rPr>
              <a:t>Similarly, MERN stack is a bundle of tools (toolbox), where each letter corresponds to a</a:t>
            </a:r>
            <a:endParaRPr lang="en-US" sz="1800" b="0" strike="noStrike" spc="-1">
              <a:latin typeface="Arial"/>
            </a:endParaRPr>
          </a:p>
          <a:p>
            <a:r>
              <a:rPr lang="en-US" sz="1800" b="0" strike="noStrike" spc="-1">
                <a:solidFill>
                  <a:srgbClr val="94BD5E"/>
                </a:solidFill>
                <a:latin typeface="Arial"/>
              </a:rPr>
              <a:t>single tool with a specialized purpose</a:t>
            </a:r>
            <a:endParaRPr lang="en-US" sz="1800" b="0" strike="noStrike" spc="-1">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SemiBold"/>
              </a:rPr>
              <a:t>What is MERN Stack ?</a:t>
            </a:r>
            <a:endParaRPr lang="en-US" sz="2600" b="0" strike="noStrike" spc="-1">
              <a:latin typeface="Arial"/>
            </a:endParaRPr>
          </a:p>
        </p:txBody>
      </p:sp>
      <p:sp>
        <p:nvSpPr>
          <p:cNvPr id="212" name="pentagon 8"/>
          <p:cNvSpPr/>
          <p:nvPr/>
        </p:nvSpPr>
        <p:spPr>
          <a:xfrm>
            <a:off x="914400" y="1442160"/>
            <a:ext cx="914400" cy="622800"/>
          </a:xfrm>
          <a:prstGeom prst="homePlate">
            <a:avLst>
              <a:gd name="adj" fmla="val 50000"/>
            </a:avLst>
          </a:prstGeom>
          <a:gradFill rotWithShape="0">
            <a:gsLst>
              <a:gs pos="0">
                <a:srgbClr val="7DA647"/>
              </a:gs>
              <a:gs pos="100000">
                <a:srgbClr val="94BD5E"/>
              </a:gs>
            </a:gsLst>
            <a:lin ang="9000000"/>
          </a:gradFill>
          <a:ln w="29160" cap="rnd">
            <a:solidFill>
              <a:srgbClr val="127622"/>
            </a:solidFill>
            <a:round/>
          </a:ln>
        </p:spPr>
        <p:style>
          <a:lnRef idx="0">
            <a:scrgbClr r="0" g="0" b="0"/>
          </a:lnRef>
          <a:fillRef idx="0">
            <a:scrgbClr r="0" g="0" b="0"/>
          </a:fillRef>
          <a:effectRef idx="0">
            <a:scrgbClr r="0" g="0" b="0"/>
          </a:effectRef>
          <a:fontRef idx="minor"/>
        </p:style>
        <p:txBody>
          <a:bodyPr lIns="98280" tIns="53280" rIns="98280" bIns="53280" anchor="ctr">
            <a:noAutofit/>
          </a:bodyPr>
          <a:lstStyle/>
          <a:p>
            <a:pPr algn="ctr">
              <a:lnSpc>
                <a:spcPct val="100000"/>
              </a:lnSpc>
              <a:buNone/>
            </a:pPr>
            <a:r>
              <a:rPr lang="en-US" sz="1400" b="1" strike="noStrike" spc="-1">
                <a:solidFill>
                  <a:srgbClr val="FFFFFF"/>
                </a:solidFill>
                <a:latin typeface="Arial"/>
                <a:ea typeface="Microsoft YaHei"/>
              </a:rPr>
              <a:t>M</a:t>
            </a:r>
          </a:p>
        </p:txBody>
      </p:sp>
      <p:sp>
        <p:nvSpPr>
          <p:cNvPr id="213" name="pentagon 9"/>
          <p:cNvSpPr/>
          <p:nvPr/>
        </p:nvSpPr>
        <p:spPr>
          <a:xfrm>
            <a:off x="906120" y="2286000"/>
            <a:ext cx="914400" cy="622800"/>
          </a:xfrm>
          <a:prstGeom prst="homePlate">
            <a:avLst>
              <a:gd name="adj" fmla="val 50000"/>
            </a:avLst>
          </a:prstGeom>
          <a:gradFill rotWithShape="0">
            <a:gsLst>
              <a:gs pos="0">
                <a:srgbClr val="7DA647"/>
              </a:gs>
              <a:gs pos="100000">
                <a:srgbClr val="94BD5E"/>
              </a:gs>
            </a:gsLst>
            <a:lin ang="9000000"/>
          </a:gradFill>
          <a:ln w="29160" cap="rnd">
            <a:solidFill>
              <a:srgbClr val="127622"/>
            </a:solidFill>
            <a:round/>
          </a:ln>
        </p:spPr>
        <p:style>
          <a:lnRef idx="0">
            <a:scrgbClr r="0" g="0" b="0"/>
          </a:lnRef>
          <a:fillRef idx="0">
            <a:scrgbClr r="0" g="0" b="0"/>
          </a:fillRef>
          <a:effectRef idx="0">
            <a:scrgbClr r="0" g="0" b="0"/>
          </a:effectRef>
          <a:fontRef idx="minor"/>
        </p:style>
        <p:txBody>
          <a:bodyPr lIns="98280" tIns="53280" rIns="98280" bIns="53280" anchor="ctr">
            <a:noAutofit/>
          </a:bodyPr>
          <a:lstStyle/>
          <a:p>
            <a:pPr algn="ctr">
              <a:lnSpc>
                <a:spcPct val="100000"/>
              </a:lnSpc>
              <a:buNone/>
            </a:pPr>
            <a:r>
              <a:rPr lang="en-US" sz="1400" b="1" strike="noStrike" spc="-1">
                <a:solidFill>
                  <a:srgbClr val="FFFFFF"/>
                </a:solidFill>
                <a:latin typeface="Arial"/>
                <a:ea typeface="Microsoft YaHei"/>
              </a:rPr>
              <a:t>E</a:t>
            </a:r>
          </a:p>
        </p:txBody>
      </p:sp>
      <p:sp>
        <p:nvSpPr>
          <p:cNvPr id="214" name="pentagon 10"/>
          <p:cNvSpPr/>
          <p:nvPr/>
        </p:nvSpPr>
        <p:spPr>
          <a:xfrm>
            <a:off x="914400" y="3116160"/>
            <a:ext cx="914400" cy="622800"/>
          </a:xfrm>
          <a:prstGeom prst="homePlate">
            <a:avLst>
              <a:gd name="adj" fmla="val 50000"/>
            </a:avLst>
          </a:prstGeom>
          <a:gradFill rotWithShape="0">
            <a:gsLst>
              <a:gs pos="0">
                <a:srgbClr val="7DA647"/>
              </a:gs>
              <a:gs pos="100000">
                <a:srgbClr val="94BD5E"/>
              </a:gs>
            </a:gsLst>
            <a:lin ang="9000000"/>
          </a:gradFill>
          <a:ln w="29160" cap="rnd">
            <a:solidFill>
              <a:srgbClr val="127622"/>
            </a:solidFill>
            <a:round/>
          </a:ln>
        </p:spPr>
        <p:style>
          <a:lnRef idx="0">
            <a:scrgbClr r="0" g="0" b="0"/>
          </a:lnRef>
          <a:fillRef idx="0">
            <a:scrgbClr r="0" g="0" b="0"/>
          </a:fillRef>
          <a:effectRef idx="0">
            <a:scrgbClr r="0" g="0" b="0"/>
          </a:effectRef>
          <a:fontRef idx="minor"/>
        </p:style>
        <p:txBody>
          <a:bodyPr lIns="98280" tIns="53280" rIns="98280" bIns="53280" anchor="ctr">
            <a:noAutofit/>
          </a:bodyPr>
          <a:lstStyle/>
          <a:p>
            <a:pPr algn="ctr">
              <a:lnSpc>
                <a:spcPct val="100000"/>
              </a:lnSpc>
              <a:buNone/>
            </a:pPr>
            <a:r>
              <a:rPr lang="en-US" sz="1400" b="1" strike="noStrike" spc="-1">
                <a:solidFill>
                  <a:srgbClr val="FFFFFF"/>
                </a:solidFill>
                <a:latin typeface="Arial"/>
                <a:ea typeface="Microsoft YaHei"/>
              </a:rPr>
              <a:t>R</a:t>
            </a:r>
          </a:p>
        </p:txBody>
      </p:sp>
      <p:sp>
        <p:nvSpPr>
          <p:cNvPr id="215" name="pentagon 11"/>
          <p:cNvSpPr/>
          <p:nvPr/>
        </p:nvSpPr>
        <p:spPr>
          <a:xfrm>
            <a:off x="923400" y="4014000"/>
            <a:ext cx="914400" cy="622800"/>
          </a:xfrm>
          <a:prstGeom prst="homePlate">
            <a:avLst>
              <a:gd name="adj" fmla="val 50000"/>
            </a:avLst>
          </a:prstGeom>
          <a:gradFill rotWithShape="0">
            <a:gsLst>
              <a:gs pos="0">
                <a:srgbClr val="7DA647"/>
              </a:gs>
              <a:gs pos="100000">
                <a:srgbClr val="94BD5E"/>
              </a:gs>
            </a:gsLst>
            <a:lin ang="9000000"/>
          </a:gradFill>
          <a:ln w="29160" cap="rnd">
            <a:solidFill>
              <a:srgbClr val="127622"/>
            </a:solidFill>
            <a:round/>
          </a:ln>
        </p:spPr>
        <p:style>
          <a:lnRef idx="0">
            <a:scrgbClr r="0" g="0" b="0"/>
          </a:lnRef>
          <a:fillRef idx="0">
            <a:scrgbClr r="0" g="0" b="0"/>
          </a:fillRef>
          <a:effectRef idx="0">
            <a:scrgbClr r="0" g="0" b="0"/>
          </a:effectRef>
          <a:fontRef idx="minor"/>
        </p:style>
        <p:txBody>
          <a:bodyPr lIns="98280" tIns="53280" rIns="98280" bIns="53280" anchor="ctr">
            <a:noAutofit/>
          </a:bodyPr>
          <a:lstStyle/>
          <a:p>
            <a:pPr algn="ctr">
              <a:lnSpc>
                <a:spcPct val="100000"/>
              </a:lnSpc>
              <a:buNone/>
            </a:pPr>
            <a:r>
              <a:rPr lang="en-US" sz="1400" b="1" strike="noStrike" spc="-1">
                <a:solidFill>
                  <a:srgbClr val="FFFFFF"/>
                </a:solidFill>
                <a:latin typeface="Arial"/>
                <a:ea typeface="Microsoft YaHei"/>
              </a:rPr>
              <a:t>N</a:t>
            </a:r>
          </a:p>
        </p:txBody>
      </p:sp>
      <p:sp>
        <p:nvSpPr>
          <p:cNvPr id="216" name="TextBox 215"/>
          <p:cNvSpPr txBox="1"/>
          <p:nvPr/>
        </p:nvSpPr>
        <p:spPr>
          <a:xfrm>
            <a:off x="2057400" y="1600200"/>
            <a:ext cx="4572000" cy="346320"/>
          </a:xfrm>
          <a:prstGeom prst="rect">
            <a:avLst/>
          </a:prstGeom>
          <a:noFill/>
          <a:ln w="0">
            <a:noFill/>
          </a:ln>
        </p:spPr>
        <p:txBody>
          <a:bodyPr lIns="90000" tIns="45000" rIns="90000" bIns="45000" anchor="t">
            <a:noAutofit/>
          </a:bodyPr>
          <a:lstStyle/>
          <a:p>
            <a:r>
              <a:rPr lang="en-US" sz="1800" b="0" strike="noStrike" spc="-1">
                <a:solidFill>
                  <a:srgbClr val="94BD5E"/>
                </a:solidFill>
                <a:latin typeface="Arial"/>
              </a:rPr>
              <a:t>Stands for Mongo Database</a:t>
            </a:r>
            <a:endParaRPr lang="en-US" sz="1800" b="0" strike="noStrike" spc="-1">
              <a:latin typeface="Arial"/>
            </a:endParaRPr>
          </a:p>
        </p:txBody>
      </p:sp>
      <p:sp>
        <p:nvSpPr>
          <p:cNvPr id="217" name="TextBox 216"/>
          <p:cNvSpPr txBox="1"/>
          <p:nvPr/>
        </p:nvSpPr>
        <p:spPr>
          <a:xfrm>
            <a:off x="2057400" y="2396880"/>
            <a:ext cx="4572000" cy="346320"/>
          </a:xfrm>
          <a:prstGeom prst="rect">
            <a:avLst/>
          </a:prstGeom>
          <a:noFill/>
          <a:ln w="0">
            <a:noFill/>
          </a:ln>
        </p:spPr>
        <p:txBody>
          <a:bodyPr lIns="90000" tIns="45000" rIns="90000" bIns="45000" anchor="t">
            <a:noAutofit/>
          </a:bodyPr>
          <a:lstStyle/>
          <a:p>
            <a:r>
              <a:rPr lang="en-US" sz="1800" b="0" strike="noStrike" spc="-1">
                <a:solidFill>
                  <a:srgbClr val="94BD5E"/>
                </a:solidFill>
                <a:latin typeface="Arial"/>
              </a:rPr>
              <a:t>Stands for Express Backend</a:t>
            </a:r>
            <a:endParaRPr lang="en-US" sz="1800" b="0" strike="noStrike" spc="-1">
              <a:latin typeface="Arial"/>
            </a:endParaRPr>
          </a:p>
        </p:txBody>
      </p:sp>
      <p:sp>
        <p:nvSpPr>
          <p:cNvPr id="218" name="TextBox 217"/>
          <p:cNvSpPr txBox="1"/>
          <p:nvPr/>
        </p:nvSpPr>
        <p:spPr>
          <a:xfrm>
            <a:off x="2057400" y="3234960"/>
            <a:ext cx="4572000" cy="346320"/>
          </a:xfrm>
          <a:prstGeom prst="rect">
            <a:avLst/>
          </a:prstGeom>
          <a:noFill/>
          <a:ln w="0">
            <a:noFill/>
          </a:ln>
        </p:spPr>
        <p:txBody>
          <a:bodyPr lIns="90000" tIns="45000" rIns="90000" bIns="45000" anchor="t">
            <a:noAutofit/>
          </a:bodyPr>
          <a:lstStyle/>
          <a:p>
            <a:r>
              <a:rPr lang="en-US" sz="1800" b="0" strike="noStrike" spc="-1">
                <a:solidFill>
                  <a:srgbClr val="94BD5E"/>
                </a:solidFill>
                <a:latin typeface="Arial"/>
              </a:rPr>
              <a:t>Stands for React Frontend</a:t>
            </a:r>
            <a:endParaRPr lang="en-US" sz="1800" b="0" strike="noStrike" spc="-1">
              <a:latin typeface="Arial"/>
            </a:endParaRPr>
          </a:p>
        </p:txBody>
      </p:sp>
      <p:sp>
        <p:nvSpPr>
          <p:cNvPr id="219" name="TextBox 218"/>
          <p:cNvSpPr txBox="1"/>
          <p:nvPr/>
        </p:nvSpPr>
        <p:spPr>
          <a:xfrm>
            <a:off x="2057400" y="4098600"/>
            <a:ext cx="4572000" cy="602280"/>
          </a:xfrm>
          <a:prstGeom prst="rect">
            <a:avLst/>
          </a:prstGeom>
          <a:noFill/>
          <a:ln w="0">
            <a:noFill/>
          </a:ln>
        </p:spPr>
        <p:txBody>
          <a:bodyPr lIns="90000" tIns="45000" rIns="90000" bIns="45000" anchor="t">
            <a:noAutofit/>
          </a:bodyPr>
          <a:lstStyle/>
          <a:p>
            <a:r>
              <a:rPr lang="en-US" sz="1800" b="0" strike="noStrike" spc="-1">
                <a:solidFill>
                  <a:srgbClr val="94BD5E"/>
                </a:solidFill>
                <a:latin typeface="Arial"/>
              </a:rPr>
              <a:t>Stands for Node Environment &amp; Package Manager</a:t>
            </a:r>
            <a:endParaRPr lang="en-US" sz="1800" b="0" strike="noStrike" spc="-1">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 name="Picture 219"/>
          <p:cNvPicPr/>
          <p:nvPr/>
        </p:nvPicPr>
        <p:blipFill>
          <a:blip r:embed="rId2"/>
          <a:stretch/>
        </p:blipFill>
        <p:spPr>
          <a:xfrm>
            <a:off x="1828800" y="1288800"/>
            <a:ext cx="5314680" cy="3628440"/>
          </a:xfrm>
          <a:prstGeom prst="rect">
            <a:avLst/>
          </a:prstGeom>
          <a:ln w="0">
            <a:noFill/>
          </a:ln>
        </p:spPr>
      </p:pic>
      <p:sp>
        <p:nvSpPr>
          <p:cNvPr id="22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r>
              <a:rPr lang="en-US" sz="2800" b="0" strike="noStrike" spc="-1">
                <a:solidFill>
                  <a:srgbClr val="BFCE84"/>
                </a:solidFill>
                <a:latin typeface="Arial"/>
              </a:rPr>
              <a:t>Full Stack Path Choices</a:t>
            </a:r>
            <a:endParaRPr lang="en-US" sz="2800" b="0" strike="noStrike" spc="-1">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723960" y="1600200"/>
            <a:ext cx="3894480" cy="560880"/>
          </a:xfrm>
          <a:prstGeom prst="rect">
            <a:avLst/>
          </a:prstGeom>
          <a:noFill/>
          <a:ln w="0">
            <a:noFill/>
          </a:ln>
        </p:spPr>
        <p:txBody>
          <a:bodyPr lIns="90000" tIns="91440" rIns="90000" bIns="91440" anchor="b">
            <a:normAutofit fontScale="95000"/>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Medium"/>
              </a:rPr>
              <a:t>MERN Setup Prerequisites</a:t>
            </a:r>
            <a:endParaRPr lang="en-US" sz="2600" b="0" strike="noStrike" spc="-1">
              <a:latin typeface="Arial"/>
            </a:endParaRPr>
          </a:p>
        </p:txBody>
      </p:sp>
      <p:sp>
        <p:nvSpPr>
          <p:cNvPr id="223" name="PlaceHolder 2"/>
          <p:cNvSpPr>
            <a:spLocks noGrp="1"/>
          </p:cNvSpPr>
          <p:nvPr>
            <p:ph type="subTitle"/>
          </p:nvPr>
        </p:nvSpPr>
        <p:spPr>
          <a:xfrm>
            <a:off x="723960" y="2162160"/>
            <a:ext cx="3894480" cy="2638440"/>
          </a:xfrm>
          <a:prstGeom prst="rect">
            <a:avLst/>
          </a:prstGeom>
          <a:noFill/>
          <a:ln w="0">
            <a:noFill/>
          </a:ln>
        </p:spPr>
        <p:txBody>
          <a:bodyPr lIns="90000" tIns="91440" rIns="90000" bIns="91440" anchor="t">
            <a:noAutofit/>
          </a:bodyPr>
          <a:lstStyle/>
          <a:p>
            <a:pPr marL="216000" indent="-216000">
              <a:spcBef>
                <a:spcPts val="283"/>
              </a:spcBef>
              <a:spcAft>
                <a:spcPts val="283"/>
              </a:spcAft>
              <a:buClr>
                <a:srgbClr val="94BD5E"/>
              </a:buClr>
              <a:buSzPct val="45000"/>
              <a:buFont typeface="Wingdings" charset="2"/>
              <a:buChar char=""/>
            </a:pPr>
            <a:r>
              <a:rPr lang="en-US" sz="1600" b="0" strike="noStrike" spc="-1">
                <a:solidFill>
                  <a:srgbClr val="94BD5E"/>
                </a:solidFill>
                <a:latin typeface="Arial"/>
                <a:ea typeface="Microsoft YaHei"/>
              </a:rPr>
              <a:t>Install node js from nodejs.org</a:t>
            </a:r>
            <a:endParaRPr lang="en-US" sz="1600" b="0" strike="noStrike" spc="-1">
              <a:latin typeface="Arial"/>
            </a:endParaRPr>
          </a:p>
          <a:p>
            <a:pPr marL="216000" indent="-216000">
              <a:spcBef>
                <a:spcPts val="283"/>
              </a:spcBef>
              <a:spcAft>
                <a:spcPts val="283"/>
              </a:spcAft>
              <a:buClr>
                <a:srgbClr val="94BD5E"/>
              </a:buClr>
              <a:buSzPct val="45000"/>
              <a:buFont typeface="Wingdings" charset="2"/>
              <a:buChar char=""/>
            </a:pPr>
            <a:r>
              <a:rPr lang="en-US" sz="1600" b="0" strike="noStrike" spc="-1">
                <a:solidFill>
                  <a:srgbClr val="94BD5E"/>
                </a:solidFill>
                <a:latin typeface="Arial"/>
                <a:ea typeface="Microsoft YaHei"/>
              </a:rPr>
              <a:t>Install mongodb community edition</a:t>
            </a:r>
            <a:endParaRPr lang="en-US" sz="1600" b="0" strike="noStrike" spc="-1">
              <a:latin typeface="Arial"/>
            </a:endParaRPr>
          </a:p>
          <a:p>
            <a:pPr marL="216000" indent="-216000">
              <a:spcBef>
                <a:spcPts val="283"/>
              </a:spcBef>
              <a:spcAft>
                <a:spcPts val="283"/>
              </a:spcAft>
              <a:buClr>
                <a:srgbClr val="94BD5E"/>
              </a:buClr>
              <a:buSzPct val="45000"/>
              <a:buFont typeface="Wingdings" charset="2"/>
              <a:buChar char=""/>
            </a:pPr>
            <a:r>
              <a:rPr lang="en-US" sz="1600" b="0" strike="noStrike" spc="-1">
                <a:solidFill>
                  <a:srgbClr val="94BD5E"/>
                </a:solidFill>
                <a:latin typeface="Arial"/>
                <a:ea typeface="Microsoft YaHei"/>
              </a:rPr>
              <a:t>Install mongodb compass</a:t>
            </a:r>
            <a:endParaRPr lang="en-US" sz="1600" b="0" strike="noStrike" spc="-1">
              <a:latin typeface="Arial"/>
            </a:endParaRPr>
          </a:p>
        </p:txBody>
      </p:sp>
      <p:sp>
        <p:nvSpPr>
          <p:cNvPr id="224" name="Google Shape;183;p32"/>
          <p:cNvSpPr/>
          <p:nvPr/>
        </p:nvSpPr>
        <p:spPr>
          <a:xfrm>
            <a:off x="5400000" y="0"/>
            <a:ext cx="3742920" cy="5142600"/>
          </a:xfrm>
          <a:prstGeom prst="round1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 name="Picture 224"/>
          <p:cNvPicPr/>
          <p:nvPr/>
        </p:nvPicPr>
        <p:blipFill>
          <a:blip r:embed="rId2"/>
          <a:stretch/>
        </p:blipFill>
        <p:spPr>
          <a:xfrm>
            <a:off x="445680" y="360"/>
            <a:ext cx="8253000" cy="5143320"/>
          </a:xfrm>
          <a:prstGeom prst="rect">
            <a:avLst/>
          </a:prstGeom>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6" name="Picture 225"/>
          <p:cNvPicPr/>
          <p:nvPr/>
        </p:nvPicPr>
        <p:blipFill>
          <a:blip r:embed="rId2"/>
          <a:stretch/>
        </p:blipFill>
        <p:spPr>
          <a:xfrm>
            <a:off x="436320" y="360"/>
            <a:ext cx="8271360" cy="5143320"/>
          </a:xfrm>
          <a:prstGeom prst="rect">
            <a:avLst/>
          </a:prstGeom>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r>
              <a:rPr lang="en-US" sz="2400" b="0" strike="noStrike" spc="-1">
                <a:solidFill>
                  <a:srgbClr val="BFCE84"/>
                </a:solidFill>
                <a:latin typeface="Atkinson Hyperlegible Next Medium"/>
              </a:rPr>
              <a:t>Checking NodeJS Installated Correctly</a:t>
            </a:r>
            <a:endParaRPr lang="en-US" sz="2400" b="0" strike="noStrike" spc="-1">
              <a:latin typeface="Arial"/>
            </a:endParaRPr>
          </a:p>
        </p:txBody>
      </p:sp>
      <p:pic>
        <p:nvPicPr>
          <p:cNvPr id="228" name="Picture 227"/>
          <p:cNvPicPr/>
          <p:nvPr/>
        </p:nvPicPr>
        <p:blipFill>
          <a:blip r:embed="rId2"/>
          <a:stretch/>
        </p:blipFill>
        <p:spPr>
          <a:xfrm>
            <a:off x="1371600" y="1273680"/>
            <a:ext cx="6400800" cy="3438000"/>
          </a:xfrm>
          <a:prstGeom prst="rect">
            <a:avLst/>
          </a:prstGeom>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fontScale="83000"/>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Node.js, npm, and MongoDB Installation Fixes</a:t>
            </a:r>
            <a:endParaRPr lang="en-US" sz="2600" b="0" strike="noStrike" spc="-1">
              <a:latin typeface="Arial"/>
            </a:endParaRPr>
          </a:p>
        </p:txBody>
      </p:sp>
      <p:sp>
        <p:nvSpPr>
          <p:cNvPr id="230"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fontScale="91000"/>
          </a:bodyPr>
          <a:lstStyle/>
          <a:p>
            <a:pPr>
              <a:lnSpc>
                <a:spcPct val="150000"/>
              </a:lnSpc>
              <a:buNone/>
              <a:tabLst>
                <a:tab pos="0" algn="l"/>
              </a:tabLst>
            </a:pPr>
            <a:r>
              <a:rPr lang="en-US" sz="1200" b="0" strike="noStrike" spc="-1">
                <a:solidFill>
                  <a:srgbClr val="BFCE84"/>
                </a:solidFill>
                <a:latin typeface="Albert Sans"/>
                <a:ea typeface="Albert Sans"/>
              </a:rPr>
              <a:t>Sometimes npm scripts are blocked by PowerShell, or npm and Node.js commands fail due to missing folders or PATH misconfiguration. Fix these by adjusting execution policies, creating necessary folders, and adding Node.js paths to your system environment variables. Confirm installation success by running node -v and npm -v commands.</a:t>
            </a:r>
            <a:endParaRPr lang="en-US" sz="1200" b="0" strike="noStrike" spc="-1">
              <a:latin typeface="Arial"/>
            </a:endParaRPr>
          </a:p>
        </p:txBody>
      </p:sp>
      <p:sp>
        <p:nvSpPr>
          <p:cNvPr id="231" name="Google Shape;176;p31"/>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2" name="Picture 231"/>
          <p:cNvPicPr/>
          <p:nvPr/>
        </p:nvPicPr>
        <p:blipFill>
          <a:blip r:embed="rId2"/>
          <a:stretch/>
        </p:blipFill>
        <p:spPr>
          <a:xfrm>
            <a:off x="360" y="855360"/>
            <a:ext cx="9143640" cy="3432960"/>
          </a:xfrm>
          <a:prstGeom prst="rect">
            <a:avLst/>
          </a:prstGeom>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3" name="Picture 232"/>
          <p:cNvPicPr/>
          <p:nvPr/>
        </p:nvPicPr>
        <p:blipFill>
          <a:blip r:embed="rId2"/>
          <a:stretch/>
        </p:blipFill>
        <p:spPr>
          <a:xfrm>
            <a:off x="1600560" y="1748160"/>
            <a:ext cx="5943240" cy="1647360"/>
          </a:xfrm>
          <a:prstGeom prst="rect">
            <a:avLst/>
          </a:prstGeom>
          <a:ln w="0">
            <a:noFill/>
          </a:ln>
        </p:spPr>
      </p:pic>
      <p:sp>
        <p:nvSpPr>
          <p:cNvPr id="234" name="PlaceHolder 1"/>
          <p:cNvSpPr>
            <a:spLocks noGrp="1"/>
          </p:cNvSpPr>
          <p:nvPr>
            <p:ph type="title"/>
          </p:nvPr>
        </p:nvSpPr>
        <p:spPr>
          <a:xfrm>
            <a:off x="457200" y="204840"/>
            <a:ext cx="8229240" cy="858600"/>
          </a:xfrm>
          <a:prstGeom prst="rect">
            <a:avLst/>
          </a:prstGeom>
          <a:noFill/>
          <a:ln w="0">
            <a:noFill/>
          </a:ln>
        </p:spPr>
        <p:txBody>
          <a:bodyPr lIns="0" tIns="0" rIns="0" bIns="0" anchor="ctr">
            <a:noAutofit/>
          </a:bodyPr>
          <a:lstStyle/>
          <a:p>
            <a:r>
              <a:rPr lang="en-US" sz="2800" b="0" strike="noStrike" spc="-1">
                <a:solidFill>
                  <a:srgbClr val="BFCE84"/>
                </a:solidFill>
                <a:latin typeface="Arial"/>
              </a:rPr>
              <a:t>Error 1: npm not found or recognised</a:t>
            </a:r>
            <a:endParaRPr lang="en-US" sz="2800" b="0" strike="noStrike" spc="-1">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 name="Picture 234"/>
          <p:cNvPicPr/>
          <p:nvPr/>
        </p:nvPicPr>
        <p:blipFill>
          <a:blip r:embed="rId2"/>
          <a:stretch/>
        </p:blipFill>
        <p:spPr>
          <a:xfrm>
            <a:off x="2378160" y="360"/>
            <a:ext cx="4388040" cy="5143320"/>
          </a:xfrm>
          <a:prstGeom prst="rect">
            <a:avLst/>
          </a:prstGeom>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6" name="Picture 235"/>
          <p:cNvPicPr/>
          <p:nvPr/>
        </p:nvPicPr>
        <p:blipFill>
          <a:blip r:embed="rId2"/>
          <a:stretch/>
        </p:blipFill>
        <p:spPr>
          <a:xfrm>
            <a:off x="541440" y="1389960"/>
            <a:ext cx="8061480" cy="2364120"/>
          </a:xfrm>
          <a:prstGeom prst="rect">
            <a:avLst/>
          </a:prstGeom>
          <a:ln w="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7" name="Picture 236"/>
          <p:cNvPicPr/>
          <p:nvPr/>
        </p:nvPicPr>
        <p:blipFill>
          <a:blip r:embed="rId2"/>
          <a:stretch/>
        </p:blipFill>
        <p:spPr>
          <a:xfrm>
            <a:off x="2026080" y="360"/>
            <a:ext cx="5091840" cy="5143320"/>
          </a:xfrm>
          <a:prstGeom prst="rect">
            <a:avLst/>
          </a:prstGeom>
          <a:ln w="0">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8" name="Picture 237"/>
          <p:cNvPicPr/>
          <p:nvPr/>
        </p:nvPicPr>
        <p:blipFill>
          <a:blip r:embed="rId2"/>
          <a:stretch/>
        </p:blipFill>
        <p:spPr>
          <a:xfrm>
            <a:off x="1302480" y="360"/>
            <a:ext cx="6539400" cy="5143320"/>
          </a:xfrm>
          <a:prstGeom prst="rect">
            <a:avLst/>
          </a:prstGeom>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 name="Picture 238"/>
          <p:cNvPicPr/>
          <p:nvPr/>
        </p:nvPicPr>
        <p:blipFill>
          <a:blip r:embed="rId2"/>
          <a:stretch/>
        </p:blipFill>
        <p:spPr>
          <a:xfrm>
            <a:off x="1182600" y="602640"/>
            <a:ext cx="6657480" cy="1790280"/>
          </a:xfrm>
          <a:prstGeom prst="rect">
            <a:avLst/>
          </a:prstGeom>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0" name="Picture 239"/>
          <p:cNvPicPr/>
          <p:nvPr/>
        </p:nvPicPr>
        <p:blipFill>
          <a:blip r:embed="rId2"/>
          <a:stretch/>
        </p:blipFill>
        <p:spPr>
          <a:xfrm>
            <a:off x="1621800" y="360"/>
            <a:ext cx="5900760" cy="5143320"/>
          </a:xfrm>
          <a:prstGeom prst="rect">
            <a:avLst/>
          </a:prstGeom>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fontScale="84000"/>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Windows Setup and Folder Structure</a:t>
            </a:r>
            <a:endParaRPr lang="en-US" sz="2600" b="0" strike="noStrike" spc="-1">
              <a:latin typeface="Arial"/>
            </a:endParaRPr>
          </a:p>
        </p:txBody>
      </p:sp>
      <p:sp>
        <p:nvSpPr>
          <p:cNvPr id="242"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fontScale="91000"/>
          </a:bodyPr>
          <a:lstStyle/>
          <a:p>
            <a:pPr>
              <a:lnSpc>
                <a:spcPct val="150000"/>
              </a:lnSpc>
              <a:buNone/>
              <a:tabLst>
                <a:tab pos="0" algn="l"/>
              </a:tabLst>
            </a:pPr>
            <a:r>
              <a:rPr lang="en-US" sz="1200" b="0" strike="noStrike" spc="-1">
                <a:solidFill>
                  <a:srgbClr val="BFCE84"/>
                </a:solidFill>
                <a:latin typeface="Albert Sans"/>
                <a:ea typeface="Albert Sans"/>
              </a:rPr>
              <a:t>Start by creating a main project folder, for example, LearnMERN, on your drive for ex: Z: . Open Command Prompt within this folder by typing cmd in File Explorers address bar. Use a single-line command to create backend and frontend subfolders, initialize backend with package.json, install dependencies, and prepare scripts to run both servers efficiently.</a:t>
            </a:r>
            <a:endParaRPr lang="en-US" sz="1200" b="0" strike="noStrike" spc="-1">
              <a:latin typeface="Arial"/>
            </a:endParaRPr>
          </a:p>
        </p:txBody>
      </p:sp>
      <p:sp>
        <p:nvSpPr>
          <p:cNvPr id="243" name="Google Shape;176;p31"/>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PlaceHolder 1"/>
          <p:cNvSpPr>
            <a:spLocks noGrp="1"/>
          </p:cNvSpPr>
          <p:nvPr>
            <p:ph type="subTitle"/>
          </p:nvPr>
        </p:nvSpPr>
        <p:spPr>
          <a:xfrm>
            <a:off x="457200" y="349200"/>
            <a:ext cx="8229240" cy="3981240"/>
          </a:xfrm>
          <a:prstGeom prst="rect">
            <a:avLst/>
          </a:prstGeom>
          <a:noFill/>
          <a:ln w="0">
            <a:noFill/>
          </a:ln>
        </p:spPr>
        <p:txBody>
          <a:bodyPr lIns="0" tIns="0" rIns="0" bIns="0" anchor="t">
            <a:noAutofit/>
          </a:bodyPr>
          <a:lstStyle/>
          <a:p>
            <a:pPr marL="215900" indent="-215900">
              <a:buClr>
                <a:srgbClr val="FFFFFF"/>
              </a:buClr>
              <a:buSzPct val="45000"/>
              <a:buFont typeface="Wingdings" charset="2"/>
              <a:buChar char=""/>
            </a:pPr>
            <a:r>
              <a:rPr lang="en-US" sz="1800" b="0" strike="noStrike" spc="-1">
                <a:solidFill>
                  <a:srgbClr val="BFCE84"/>
                </a:solidFill>
                <a:latin typeface="Arial"/>
              </a:rPr>
              <a:t>Goto: </a:t>
            </a:r>
            <a:r>
              <a:rPr lang="en-US" sz="1800" spc="-1">
                <a:solidFill>
                  <a:srgbClr val="BFCE84"/>
                </a:solidFill>
                <a:latin typeface="Arial"/>
              </a:rPr>
              <a:t> </a:t>
            </a:r>
            <a:r>
              <a:rPr lang="en-US" sz="1800" spc="-1">
                <a:solidFill>
                  <a:srgbClr val="E8A202"/>
                </a:solidFill>
                <a:latin typeface="Arial"/>
                <a:hlinkClick r:id="rId2"/>
              </a:rPr>
              <a:t>https://aadilmohammed360.github.io/Learn-MERN-Fundamentals/</a:t>
            </a:r>
            <a:r>
              <a:rPr lang="en-US" sz="1800" b="0" strike="noStrike" spc="-1">
                <a:solidFill>
                  <a:srgbClr val="E8A202"/>
                </a:solidFill>
                <a:latin typeface="Arial"/>
              </a:rPr>
              <a:t> </a:t>
            </a:r>
            <a:endParaRPr lang="en-US" sz="1800" b="0" strike="noStrike" spc="-1">
              <a:latin typeface="Arial"/>
            </a:endParaRPr>
          </a:p>
          <a:p>
            <a:pPr marL="215900" indent="-215900">
              <a:buClr>
                <a:srgbClr val="FFFFFF"/>
              </a:buClr>
              <a:buSzPct val="45000"/>
              <a:buFont typeface="Wingdings" charset="2"/>
              <a:buChar char=""/>
            </a:pPr>
            <a:r>
              <a:rPr lang="en-US" sz="1800" b="0" strike="noStrike" spc="-1">
                <a:solidFill>
                  <a:srgbClr val="BFCE84"/>
                </a:solidFill>
                <a:latin typeface="Arial"/>
              </a:rPr>
              <a:t>Copy my one liner command from chapter 1</a:t>
            </a:r>
            <a:endParaRPr lang="en-US" sz="1800" b="0" strike="noStrike" spc="-1">
              <a:latin typeface="Arial"/>
            </a:endParaRPr>
          </a:p>
        </p:txBody>
      </p:sp>
      <p:pic>
        <p:nvPicPr>
          <p:cNvPr id="245" name="Picture 244"/>
          <p:cNvPicPr/>
          <p:nvPr/>
        </p:nvPicPr>
        <p:blipFill>
          <a:blip r:embed="rId3"/>
          <a:stretch/>
        </p:blipFill>
        <p:spPr>
          <a:xfrm>
            <a:off x="1828800" y="1142640"/>
            <a:ext cx="5477400" cy="3803760"/>
          </a:xfrm>
          <a:prstGeom prst="rect">
            <a:avLst/>
          </a:prstGeom>
          <a:ln w="0">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6" name="Picture 245"/>
          <p:cNvPicPr/>
          <p:nvPr/>
        </p:nvPicPr>
        <p:blipFill>
          <a:blip r:embed="rId2"/>
          <a:stretch/>
        </p:blipFill>
        <p:spPr>
          <a:xfrm>
            <a:off x="80640" y="360"/>
            <a:ext cx="8834760" cy="5143320"/>
          </a:xfrm>
          <a:prstGeom prst="rect">
            <a:avLst/>
          </a:prstGeom>
          <a:ln w="0">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TextBox 246"/>
          <p:cNvSpPr txBox="1"/>
          <p:nvPr/>
        </p:nvSpPr>
        <p:spPr>
          <a:xfrm>
            <a:off x="108000" y="324000"/>
            <a:ext cx="8578800" cy="1276200"/>
          </a:xfrm>
          <a:prstGeom prst="rect">
            <a:avLst/>
          </a:prstGeom>
          <a:noFill/>
          <a:ln w="0">
            <a:noFill/>
          </a:ln>
        </p:spPr>
        <p:txBody>
          <a:bodyPr lIns="90000" tIns="45000" rIns="90000" bIns="45000" anchor="t">
            <a:noAutofit/>
          </a:bodyPr>
          <a:lstStyle/>
          <a:p>
            <a:pPr marL="216000" indent="-216000">
              <a:lnSpc>
                <a:spcPct val="100000"/>
              </a:lnSpc>
              <a:spcBef>
                <a:spcPts val="567"/>
              </a:spcBef>
              <a:spcAft>
                <a:spcPts val="567"/>
              </a:spcAft>
              <a:buClr>
                <a:srgbClr val="FFFFFF"/>
              </a:buClr>
              <a:buSzPct val="45000"/>
              <a:buFont typeface="Wingdings" charset="2"/>
              <a:buChar char=""/>
            </a:pPr>
            <a:r>
              <a:rPr lang="en-US" sz="1600" b="0" strike="noStrike" spc="-1">
                <a:solidFill>
                  <a:srgbClr val="BFCE84"/>
                </a:solidFill>
                <a:latin typeface="Arial"/>
                <a:ea typeface="Microsoft YaHei"/>
              </a:rPr>
              <a:t>My custom code will automatically set both backend and frontend folder setup for you </a:t>
            </a:r>
            <a:endParaRPr lang="en-US" sz="1600" b="0" strike="noStrike" spc="-1">
              <a:latin typeface="Arial"/>
            </a:endParaRPr>
          </a:p>
          <a:p>
            <a:pPr marL="216000" indent="-216000">
              <a:lnSpc>
                <a:spcPct val="100000"/>
              </a:lnSpc>
              <a:spcBef>
                <a:spcPts val="567"/>
              </a:spcBef>
              <a:spcAft>
                <a:spcPts val="567"/>
              </a:spcAft>
              <a:buClr>
                <a:srgbClr val="FFFFFF"/>
              </a:buClr>
              <a:buSzPct val="45000"/>
              <a:buFont typeface="Wingdings" charset="2"/>
              <a:buChar char=""/>
            </a:pPr>
            <a:r>
              <a:rPr lang="en-US" sz="1600" b="0" strike="noStrike" spc="-1">
                <a:solidFill>
                  <a:srgbClr val="E8A202"/>
                </a:solidFill>
                <a:latin typeface="Arial"/>
                <a:ea typeface="Microsoft YaHei"/>
              </a:rPr>
              <a:t>2 cmd windows</a:t>
            </a:r>
            <a:r>
              <a:rPr lang="en-US" sz="1600" b="0" strike="noStrike" spc="-1">
                <a:solidFill>
                  <a:srgbClr val="BFCE84"/>
                </a:solidFill>
                <a:latin typeface="Arial"/>
                <a:ea typeface="Microsoft YaHei"/>
              </a:rPr>
              <a:t> will appear and they will run </a:t>
            </a:r>
            <a:r>
              <a:rPr lang="en-US" sz="1600" b="0" strike="noStrike" spc="-1">
                <a:solidFill>
                  <a:srgbClr val="E8A202"/>
                </a:solidFill>
                <a:latin typeface="Arial"/>
                <a:ea typeface="Microsoft YaHei"/>
              </a:rPr>
              <a:t>backend</a:t>
            </a:r>
            <a:r>
              <a:rPr lang="en-US" sz="1600" b="0" strike="noStrike" spc="-1">
                <a:solidFill>
                  <a:srgbClr val="BFCE84"/>
                </a:solidFill>
                <a:latin typeface="Arial"/>
                <a:ea typeface="Microsoft YaHei"/>
              </a:rPr>
              <a:t> and </a:t>
            </a:r>
            <a:r>
              <a:rPr lang="en-US" sz="1600" b="0" strike="noStrike" spc="-1">
                <a:solidFill>
                  <a:srgbClr val="E8A202"/>
                </a:solidFill>
                <a:latin typeface="Arial"/>
                <a:ea typeface="Microsoft YaHei"/>
              </a:rPr>
              <a:t>frontend</a:t>
            </a:r>
            <a:endParaRPr lang="en-US" sz="1600" b="0" strike="noStrike" spc="-1">
              <a:latin typeface="Arial"/>
            </a:endParaRPr>
          </a:p>
          <a:p>
            <a:pPr marL="216000" indent="-216000">
              <a:lnSpc>
                <a:spcPct val="100000"/>
              </a:lnSpc>
              <a:spcBef>
                <a:spcPts val="567"/>
              </a:spcBef>
              <a:spcAft>
                <a:spcPts val="567"/>
              </a:spcAft>
              <a:buClr>
                <a:srgbClr val="FFFFFF"/>
              </a:buClr>
              <a:buSzPct val="45000"/>
              <a:buFont typeface="Wingdings" charset="2"/>
              <a:buChar char=""/>
            </a:pPr>
            <a:r>
              <a:rPr lang="en-US" sz="1600" b="0" strike="noStrike" spc="-1">
                <a:solidFill>
                  <a:srgbClr val="BFCE84"/>
                </a:solidFill>
                <a:latin typeface="Arial"/>
                <a:ea typeface="Microsoft YaHei"/>
              </a:rPr>
              <a:t>Dont  do anything, just </a:t>
            </a:r>
            <a:r>
              <a:rPr lang="en-US" sz="1600" b="0" strike="noStrike" spc="-1">
                <a:solidFill>
                  <a:srgbClr val="E8A202"/>
                </a:solidFill>
                <a:latin typeface="Arial"/>
                <a:ea typeface="Microsoft YaHei"/>
              </a:rPr>
              <a:t>wait until your browser opens with a react logo page</a:t>
            </a:r>
            <a:r>
              <a:rPr lang="en-US" sz="1600" b="0" strike="noStrike" spc="-1">
                <a:solidFill>
                  <a:srgbClr val="BFCE84"/>
                </a:solidFill>
                <a:latin typeface="Arial"/>
                <a:ea typeface="Microsoft YaHei"/>
              </a:rPr>
              <a:t> and </a:t>
            </a:r>
            <a:endParaRPr lang="en-US" sz="1600" b="0" strike="noStrike" spc="-1">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8" name="Picture 247"/>
          <p:cNvPicPr/>
          <p:nvPr/>
        </p:nvPicPr>
        <p:blipFill>
          <a:blip r:embed="rId2"/>
          <a:stretch/>
        </p:blipFill>
        <p:spPr>
          <a:xfrm>
            <a:off x="302400" y="720"/>
            <a:ext cx="8539200" cy="5143320"/>
          </a:xfrm>
          <a:prstGeom prst="rect">
            <a:avLst/>
          </a:prstGeom>
          <a:ln w="0">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9" name="Picture 248"/>
          <p:cNvPicPr/>
          <p:nvPr/>
        </p:nvPicPr>
        <p:blipFill>
          <a:blip r:embed="rId2"/>
          <a:stretch/>
        </p:blipFill>
        <p:spPr>
          <a:xfrm>
            <a:off x="866880" y="1128960"/>
            <a:ext cx="7410240" cy="2885760"/>
          </a:xfrm>
          <a:prstGeom prst="rect">
            <a:avLst/>
          </a:prstGeom>
          <a:ln w="0">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723960" y="790560"/>
            <a:ext cx="3894480" cy="1370520"/>
          </a:xfrm>
          <a:prstGeom prst="rect">
            <a:avLst/>
          </a:prstGeom>
          <a:noFill/>
          <a:ln w="0">
            <a:noFill/>
          </a:ln>
        </p:spPr>
        <p:txBody>
          <a:bodyPr lIns="90000" tIns="91440" rIns="90000" bIns="91440" anchor="b">
            <a:normAutofit/>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Medium"/>
              </a:rPr>
              <a:t>Running Backend and Frontend Servers</a:t>
            </a:r>
            <a:endParaRPr lang="en-US" sz="2600" b="0" strike="noStrike" spc="-1">
              <a:latin typeface="Arial"/>
            </a:endParaRPr>
          </a:p>
        </p:txBody>
      </p:sp>
      <p:sp>
        <p:nvSpPr>
          <p:cNvPr id="251" name="PlaceHolder 2"/>
          <p:cNvSpPr>
            <a:spLocks noGrp="1"/>
          </p:cNvSpPr>
          <p:nvPr>
            <p:ph type="subTitle"/>
          </p:nvPr>
        </p:nvSpPr>
        <p:spPr>
          <a:xfrm>
            <a:off x="685800" y="2162160"/>
            <a:ext cx="3894480" cy="1732320"/>
          </a:xfrm>
          <a:prstGeom prst="rect">
            <a:avLst/>
          </a:prstGeom>
          <a:noFill/>
          <a:ln w="0">
            <a:noFill/>
          </a:ln>
        </p:spPr>
        <p:txBody>
          <a:bodyPr lIns="90000" tIns="91440" rIns="90000" bIns="91440" anchor="t">
            <a:normAutofit fontScale="89000"/>
          </a:bodyPr>
          <a:lstStyle/>
          <a:p>
            <a:pPr>
              <a:lnSpc>
                <a:spcPct val="150000"/>
              </a:lnSpc>
              <a:buNone/>
              <a:tabLst>
                <a:tab pos="0" algn="l"/>
              </a:tabLst>
            </a:pPr>
            <a:r>
              <a:rPr lang="en-US" sz="1200" b="0" strike="noStrike" spc="-1">
                <a:solidFill>
                  <a:srgbClr val="BFCE84"/>
                </a:solidFill>
                <a:latin typeface="Albert Sans"/>
                <a:ea typeface="Albert Sans"/>
              </a:rPr>
              <a:t>Run the backend server with </a:t>
            </a:r>
            <a:r>
              <a:rPr lang="en-US" sz="1200" b="0" strike="noStrike" spc="-1">
                <a:solidFill>
                  <a:srgbClr val="E8A202"/>
                </a:solidFill>
                <a:latin typeface="Albert Sans"/>
                <a:ea typeface="Albert Sans"/>
              </a:rPr>
              <a:t>npm run dev --prefix backend</a:t>
            </a:r>
            <a:r>
              <a:rPr lang="en-US" sz="1200" b="0" strike="noStrike" spc="-1">
                <a:solidFill>
                  <a:srgbClr val="BFCE84"/>
                </a:solidFill>
                <a:latin typeface="Albert Sans"/>
                <a:ea typeface="Albert Sans"/>
              </a:rPr>
              <a:t> and the frontend React app with </a:t>
            </a:r>
            <a:r>
              <a:rPr lang="en-US" sz="1200" b="0" strike="noStrike" spc="-1">
                <a:solidFill>
                  <a:srgbClr val="E8A202"/>
                </a:solidFill>
                <a:latin typeface="Albert Sans"/>
                <a:ea typeface="Albert Sans"/>
              </a:rPr>
              <a:t>npm run dev --prefix frontend</a:t>
            </a:r>
            <a:r>
              <a:rPr lang="en-US" sz="1200" b="0" strike="noStrike" spc="-1">
                <a:solidFill>
                  <a:srgbClr val="BFCE84"/>
                </a:solidFill>
                <a:latin typeface="Albert Sans"/>
                <a:ea typeface="Albert Sans"/>
              </a:rPr>
              <a:t> in separate Command Prompts from address bar at             </a:t>
            </a:r>
            <a:r>
              <a:rPr lang="en-US" sz="1200" b="0" strike="noStrike" spc="-1">
                <a:solidFill>
                  <a:srgbClr val="E8A202"/>
                </a:solidFill>
                <a:latin typeface="Albert Sans"/>
                <a:ea typeface="Albert Sans"/>
              </a:rPr>
              <a:t>Z:\LearnMern</a:t>
            </a:r>
            <a:r>
              <a:rPr lang="en-US" sz="1200" b="0" strike="noStrike" spc="-1">
                <a:solidFill>
                  <a:srgbClr val="BFCE84"/>
                </a:solidFill>
                <a:latin typeface="Albert Sans"/>
                <a:ea typeface="Albert Sans"/>
              </a:rPr>
              <a:t>. The backend typically runs on </a:t>
            </a:r>
            <a:r>
              <a:rPr lang="en-US" sz="1200" b="0" strike="noStrike" spc="-1">
                <a:solidFill>
                  <a:srgbClr val="E8A202"/>
                </a:solidFill>
                <a:latin typeface="Albert Sans"/>
                <a:ea typeface="Albert Sans"/>
              </a:rPr>
              <a:t>http://localhost:8000</a:t>
            </a:r>
            <a:r>
              <a:rPr lang="en-US" sz="1200" b="0" strike="noStrike" spc="-1">
                <a:solidFill>
                  <a:srgbClr val="BFCE84"/>
                </a:solidFill>
                <a:latin typeface="Albert Sans"/>
                <a:ea typeface="Albert Sans"/>
              </a:rPr>
              <a:t> and the frontend on</a:t>
            </a:r>
            <a:r>
              <a:rPr lang="en-US" sz="1200" b="0" strike="noStrike" spc="-1">
                <a:solidFill>
                  <a:srgbClr val="E8A202"/>
                </a:solidFill>
                <a:latin typeface="Albert Sans"/>
                <a:ea typeface="Albert Sans"/>
              </a:rPr>
              <a:t> http://localhost:5173.</a:t>
            </a:r>
            <a:r>
              <a:rPr lang="en-US" sz="1200" b="0" strike="noStrike" spc="-1">
                <a:solidFill>
                  <a:srgbClr val="BFCE84"/>
                </a:solidFill>
                <a:latin typeface="Albert Sans"/>
                <a:ea typeface="Albert Sans"/>
              </a:rPr>
              <a:t> This setup supports live reloading to speed up development.</a:t>
            </a:r>
            <a:endParaRPr lang="en-US" sz="1200" b="0" strike="noStrike" spc="-1">
              <a:latin typeface="Arial"/>
            </a:endParaRPr>
          </a:p>
        </p:txBody>
      </p:sp>
      <p:sp>
        <p:nvSpPr>
          <p:cNvPr id="252" name="Google Shape;183;p32"/>
          <p:cNvSpPr/>
          <p:nvPr/>
        </p:nvSpPr>
        <p:spPr>
          <a:xfrm>
            <a:off x="5400000" y="0"/>
            <a:ext cx="3742920" cy="5142600"/>
          </a:xfrm>
          <a:prstGeom prst="round1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sp>
      <p:sp>
        <p:nvSpPr>
          <p:cNvPr id="253" name="Google Shape;184;p32"/>
          <p:cNvSpPr/>
          <p:nvPr/>
        </p:nvSpPr>
        <p:spPr>
          <a:xfrm>
            <a:off x="723960" y="3971880"/>
            <a:ext cx="105624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4" name="Picture 253"/>
          <p:cNvPicPr/>
          <p:nvPr/>
        </p:nvPicPr>
        <p:blipFill>
          <a:blip r:embed="rId2"/>
          <a:stretch/>
        </p:blipFill>
        <p:spPr>
          <a:xfrm>
            <a:off x="459000" y="987480"/>
            <a:ext cx="8061480" cy="3168720"/>
          </a:xfrm>
          <a:prstGeom prst="rect">
            <a:avLst/>
          </a:prstGeom>
          <a:ln w="0">
            <a:noFill/>
          </a:ln>
        </p:spPr>
      </p:pic>
      <p:sp>
        <p:nvSpPr>
          <p:cNvPr id="25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r>
              <a:rPr lang="en-US" sz="2600" b="0" strike="noStrike" spc="-1">
                <a:solidFill>
                  <a:srgbClr val="BFCE84"/>
                </a:solidFill>
                <a:latin typeface="Atkinson Hyperlegible Next Medium"/>
              </a:rPr>
              <a:t>How to run the project next time</a:t>
            </a:r>
            <a:endParaRPr lang="en-US" sz="2600" b="0" strike="noStrike" spc="-1">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PlaceHolder 1"/>
          <p:cNvSpPr>
            <a:spLocks noGrp="1"/>
          </p:cNvSpPr>
          <p:nvPr>
            <p:ph type="title"/>
          </p:nvPr>
        </p:nvSpPr>
        <p:spPr>
          <a:xfrm>
            <a:off x="723960" y="790560"/>
            <a:ext cx="3894480" cy="1370520"/>
          </a:xfrm>
          <a:prstGeom prst="rect">
            <a:avLst/>
          </a:prstGeom>
          <a:noFill/>
          <a:ln w="0">
            <a:noFill/>
          </a:ln>
        </p:spPr>
        <p:txBody>
          <a:bodyPr lIns="90000" tIns="91440" rIns="90000" bIns="91440" anchor="b">
            <a:normAutofit/>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Medium"/>
              </a:rPr>
              <a:t>MongoDB Compass: Database Setup</a:t>
            </a:r>
            <a:endParaRPr lang="en-US" sz="2600" b="0" strike="noStrike" spc="-1">
              <a:latin typeface="Arial"/>
            </a:endParaRPr>
          </a:p>
        </p:txBody>
      </p:sp>
      <p:sp>
        <p:nvSpPr>
          <p:cNvPr id="257" name="PlaceHolder 2"/>
          <p:cNvSpPr>
            <a:spLocks noGrp="1"/>
          </p:cNvSpPr>
          <p:nvPr>
            <p:ph type="subTitle"/>
          </p:nvPr>
        </p:nvSpPr>
        <p:spPr>
          <a:xfrm>
            <a:off x="723960" y="2162160"/>
            <a:ext cx="3894480" cy="1732320"/>
          </a:xfrm>
          <a:prstGeom prst="rect">
            <a:avLst/>
          </a:prstGeom>
          <a:noFill/>
          <a:ln w="0">
            <a:noFill/>
          </a:ln>
        </p:spPr>
        <p:txBody>
          <a:bodyPr lIns="90000" tIns="91440" rIns="90000" bIns="91440" anchor="t">
            <a:normAutofit fontScale="93000"/>
          </a:bodyPr>
          <a:lstStyle/>
          <a:p>
            <a:pPr>
              <a:lnSpc>
                <a:spcPct val="150000"/>
              </a:lnSpc>
              <a:buNone/>
              <a:tabLst>
                <a:tab pos="0" algn="l"/>
              </a:tabLst>
            </a:pPr>
            <a:r>
              <a:rPr lang="en-US" sz="1200" b="0" strike="noStrike" spc="-1">
                <a:solidFill>
                  <a:srgbClr val="BFCE84"/>
                </a:solidFill>
                <a:latin typeface="Albert Sans"/>
                <a:ea typeface="Albert Sans"/>
              </a:rPr>
              <a:t>MongoDB Compass lets you visually manage your database. Connect to the local server, create a database named learnMERN, and a students collection. Add student records manually through the UI in JSON format. This helps you understand document-based data storage compared to traditional relational databases.</a:t>
            </a:r>
            <a:endParaRPr lang="en-US" sz="1200" b="0" strike="noStrike" spc="-1">
              <a:latin typeface="Arial"/>
            </a:endParaRPr>
          </a:p>
        </p:txBody>
      </p:sp>
      <p:sp>
        <p:nvSpPr>
          <p:cNvPr id="258" name="Google Shape;183;p32"/>
          <p:cNvSpPr/>
          <p:nvPr/>
        </p:nvSpPr>
        <p:spPr>
          <a:xfrm>
            <a:off x="5400000" y="0"/>
            <a:ext cx="3742920" cy="5142600"/>
          </a:xfrm>
          <a:prstGeom prst="round1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sp>
      <p:sp>
        <p:nvSpPr>
          <p:cNvPr id="259" name="Google Shape;184;p32"/>
          <p:cNvSpPr/>
          <p:nvPr/>
        </p:nvSpPr>
        <p:spPr>
          <a:xfrm>
            <a:off x="723960" y="3971880"/>
            <a:ext cx="105624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0" name="Picture 259"/>
          <p:cNvPicPr/>
          <p:nvPr/>
        </p:nvPicPr>
        <p:blipFill>
          <a:blip r:embed="rId2"/>
          <a:stretch/>
        </p:blipFill>
        <p:spPr>
          <a:xfrm>
            <a:off x="565560" y="360"/>
            <a:ext cx="8012880" cy="5143320"/>
          </a:xfrm>
          <a:prstGeom prst="rect">
            <a:avLst/>
          </a:prstGeom>
          <a:ln w="0">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1" name="Picture 260"/>
          <p:cNvPicPr/>
          <p:nvPr/>
        </p:nvPicPr>
        <p:blipFill>
          <a:blip r:embed="rId2"/>
          <a:stretch/>
        </p:blipFill>
        <p:spPr>
          <a:xfrm>
            <a:off x="966240" y="360"/>
            <a:ext cx="7211520" cy="5143320"/>
          </a:xfrm>
          <a:prstGeom prst="rect">
            <a:avLst/>
          </a:prstGeom>
          <a:ln w="0">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2" name="Picture 261"/>
          <p:cNvPicPr/>
          <p:nvPr/>
        </p:nvPicPr>
        <p:blipFill>
          <a:blip r:embed="rId2"/>
          <a:stretch/>
        </p:blipFill>
        <p:spPr>
          <a:xfrm>
            <a:off x="3143520" y="176400"/>
            <a:ext cx="2857320" cy="4790880"/>
          </a:xfrm>
          <a:prstGeom prst="rect">
            <a:avLst/>
          </a:prstGeom>
          <a:ln w="0">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3" name="Picture 262"/>
          <p:cNvPicPr/>
          <p:nvPr/>
        </p:nvPicPr>
        <p:blipFill>
          <a:blip r:embed="rId2"/>
          <a:stretch/>
        </p:blipFill>
        <p:spPr>
          <a:xfrm>
            <a:off x="703080" y="360"/>
            <a:ext cx="7738200" cy="5143320"/>
          </a:xfrm>
          <a:prstGeom prst="rect">
            <a:avLst/>
          </a:prstGeom>
          <a:ln w="0">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 name="Picture 263"/>
          <p:cNvPicPr/>
          <p:nvPr/>
        </p:nvPicPr>
        <p:blipFill>
          <a:blip r:embed="rId2"/>
          <a:stretch/>
        </p:blipFill>
        <p:spPr>
          <a:xfrm>
            <a:off x="747360" y="360"/>
            <a:ext cx="7649640" cy="5143320"/>
          </a:xfrm>
          <a:prstGeom prst="rect">
            <a:avLst/>
          </a:prstGeom>
          <a:ln w="0">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5" name="Picture 264"/>
          <p:cNvPicPr/>
          <p:nvPr/>
        </p:nvPicPr>
        <p:blipFill>
          <a:blip r:embed="rId2"/>
          <a:stretch/>
        </p:blipFill>
        <p:spPr>
          <a:xfrm>
            <a:off x="914400" y="1401480"/>
            <a:ext cx="7315200" cy="2331720"/>
          </a:xfrm>
          <a:prstGeom prst="rect">
            <a:avLst/>
          </a:prstGeom>
          <a:ln w="0">
            <a:noFill/>
          </a:ln>
        </p:spPr>
      </p:pic>
      <p:sp>
        <p:nvSpPr>
          <p:cNvPr id="26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r>
              <a:rPr lang="en-US" sz="2600" b="0" strike="noStrike" spc="-1">
                <a:solidFill>
                  <a:srgbClr val="BFCE84"/>
                </a:solidFill>
                <a:latin typeface="Arial"/>
              </a:rPr>
              <a:t>Copy code from chapter 4 step 3 from my site</a:t>
            </a:r>
            <a:endParaRPr lang="en-US" sz="2600" b="0" strike="noStrike" spc="-1">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7" name="Picture 266"/>
          <p:cNvPicPr/>
          <p:nvPr/>
        </p:nvPicPr>
        <p:blipFill>
          <a:blip r:embed="rId2"/>
          <a:stretch/>
        </p:blipFill>
        <p:spPr>
          <a:xfrm>
            <a:off x="703080" y="360"/>
            <a:ext cx="7738200" cy="5143320"/>
          </a:xfrm>
          <a:prstGeom prst="rect">
            <a:avLst/>
          </a:prstGeom>
          <a:ln w="0">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8" name="Picture 267"/>
          <p:cNvPicPr/>
          <p:nvPr/>
        </p:nvPicPr>
        <p:blipFill>
          <a:blip r:embed="rId2"/>
          <a:stretch/>
        </p:blipFill>
        <p:spPr>
          <a:xfrm>
            <a:off x="703080" y="360"/>
            <a:ext cx="7738200" cy="5143320"/>
          </a:xfrm>
          <a:prstGeom prst="rect">
            <a:avLst/>
          </a:prstGeom>
          <a:ln w="0">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9" name="Picture 268"/>
          <p:cNvPicPr/>
          <p:nvPr/>
        </p:nvPicPr>
        <p:blipFill>
          <a:blip r:embed="rId2"/>
          <a:stretch/>
        </p:blipFill>
        <p:spPr>
          <a:xfrm>
            <a:off x="-259920" y="-86760"/>
            <a:ext cx="13196520" cy="7422480"/>
          </a:xfrm>
          <a:prstGeom prst="rect">
            <a:avLst/>
          </a:prstGeom>
          <a:ln w="0">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0" name="Picture 269"/>
          <p:cNvPicPr/>
          <p:nvPr/>
        </p:nvPicPr>
        <p:blipFill>
          <a:blip r:embed="rId2"/>
          <a:stretch/>
        </p:blipFill>
        <p:spPr>
          <a:xfrm>
            <a:off x="705600" y="427320"/>
            <a:ext cx="5598360" cy="2028600"/>
          </a:xfrm>
          <a:prstGeom prst="rect">
            <a:avLst/>
          </a:prstGeom>
          <a:ln w="0">
            <a:noFill/>
          </a:ln>
        </p:spPr>
      </p:pic>
      <p:pic>
        <p:nvPicPr>
          <p:cNvPr id="271" name="Picture 270"/>
          <p:cNvPicPr/>
          <p:nvPr/>
        </p:nvPicPr>
        <p:blipFill>
          <a:blip r:embed="rId3"/>
          <a:stretch/>
        </p:blipFill>
        <p:spPr>
          <a:xfrm>
            <a:off x="730440" y="2735640"/>
            <a:ext cx="5555880" cy="2000880"/>
          </a:xfrm>
          <a:prstGeom prst="rect">
            <a:avLst/>
          </a:prstGeom>
          <a:ln w="0">
            <a:noFill/>
          </a:ln>
        </p:spPr>
      </p:pic>
      <p:sp>
        <p:nvSpPr>
          <p:cNvPr id="272" name="TextBox 271"/>
          <p:cNvSpPr txBox="1"/>
          <p:nvPr/>
        </p:nvSpPr>
        <p:spPr>
          <a:xfrm>
            <a:off x="7204320" y="1437480"/>
            <a:ext cx="1330517" cy="353123"/>
          </a:xfrm>
          <a:prstGeom prst="rect">
            <a:avLst/>
          </a:prstGeom>
          <a:noFill/>
          <a:ln w="0">
            <a:noFill/>
          </a:ln>
        </p:spPr>
        <p:txBody>
          <a:bodyPr lIns="90000" tIns="45000" rIns="90000" bIns="45000" anchor="t">
            <a:noAutofit/>
          </a:bodyPr>
          <a:lstStyle/>
          <a:p>
            <a:r>
              <a:rPr lang="en-US" sz="1800" b="0" strike="noStrike" spc="-1">
                <a:solidFill>
                  <a:srgbClr val="BFCE84"/>
                </a:solidFill>
                <a:latin typeface="Arial"/>
              </a:rPr>
              <a:t>PHP</a:t>
            </a:r>
            <a:endParaRPr lang="en-US" sz="1800" b="0" strike="noStrike" spc="-1">
              <a:latin typeface="Arial"/>
            </a:endParaRPr>
          </a:p>
        </p:txBody>
      </p:sp>
      <p:sp>
        <p:nvSpPr>
          <p:cNvPr id="273" name="TextBox 272"/>
          <p:cNvSpPr txBox="1"/>
          <p:nvPr/>
        </p:nvSpPr>
        <p:spPr>
          <a:xfrm>
            <a:off x="6943680" y="3436200"/>
            <a:ext cx="1584698" cy="305499"/>
          </a:xfrm>
          <a:prstGeom prst="rect">
            <a:avLst/>
          </a:prstGeom>
          <a:noFill/>
          <a:ln w="0">
            <a:noFill/>
          </a:ln>
        </p:spPr>
        <p:txBody>
          <a:bodyPr lIns="90000" tIns="45000" rIns="90000" bIns="45000" anchor="t">
            <a:noAutofit/>
          </a:bodyPr>
          <a:lstStyle/>
          <a:p>
            <a:r>
              <a:rPr lang="en-US" sz="1800" b="0" strike="noStrike" spc="-1">
                <a:solidFill>
                  <a:srgbClr val="BFCE84"/>
                </a:solidFill>
                <a:latin typeface="Arial"/>
              </a:rPr>
              <a:t>Mongoose</a:t>
            </a:r>
            <a:endParaRPr lang="en-US" sz="1800" b="0" strike="noStrike" spc="-1">
              <a:latin typeface="Arial"/>
            </a:endParaRPr>
          </a:p>
        </p:txBody>
      </p:sp>
      <p:sp>
        <p:nvSpPr>
          <p:cNvPr id="274" name="Straight Connector 273"/>
          <p:cNvSpPr/>
          <p:nvPr/>
        </p:nvSpPr>
        <p:spPr>
          <a:xfrm>
            <a:off x="7524720" y="1792440"/>
            <a:ext cx="0" cy="1645200"/>
          </a:xfrm>
          <a:prstGeom prst="line">
            <a:avLst/>
          </a:prstGeom>
          <a:ln w="0">
            <a:solidFill>
              <a:srgbClr val="EA7500"/>
            </a:solidFill>
            <a:tailEnd type="triangle" w="med" len="med"/>
          </a:ln>
        </p:spPr>
        <p:style>
          <a:lnRef idx="0">
            <a:scrgbClr r="0" g="0" b="0"/>
          </a:lnRef>
          <a:fillRef idx="0">
            <a:scrgbClr r="0" g="0" b="0"/>
          </a:fillRef>
          <a:effectRef idx="0">
            <a:scrgbClr r="0" g="0" b="0"/>
          </a:effectRef>
          <a:fontRef idx="minor"/>
        </p:style>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 name="Picture 275"/>
          <p:cNvPicPr/>
          <p:nvPr/>
        </p:nvPicPr>
        <p:blipFill>
          <a:blip r:embed="rId2"/>
          <a:stretch/>
        </p:blipFill>
        <p:spPr>
          <a:xfrm>
            <a:off x="164880" y="658440"/>
            <a:ext cx="4155840" cy="4346640"/>
          </a:xfrm>
          <a:prstGeom prst="rect">
            <a:avLst/>
          </a:prstGeom>
          <a:ln w="0">
            <a:noFill/>
          </a:ln>
        </p:spPr>
      </p:pic>
      <p:pic>
        <p:nvPicPr>
          <p:cNvPr id="2" name="Picture 1" descr="A screenshot of a computer program&#10;&#10;AI-generated content may be incorrect.">
            <a:extLst>
              <a:ext uri="{FF2B5EF4-FFF2-40B4-BE49-F238E27FC236}">
                <a16:creationId xmlns:a16="http://schemas.microsoft.com/office/drawing/2014/main" id="{376DA5BF-463F-3E53-742C-6B00742620D7}"/>
              </a:ext>
            </a:extLst>
          </p:cNvPr>
          <p:cNvPicPr>
            <a:picLocks noChangeAspect="1"/>
          </p:cNvPicPr>
          <p:nvPr/>
        </p:nvPicPr>
        <p:blipFill>
          <a:blip r:embed="rId3"/>
          <a:stretch>
            <a:fillRect/>
          </a:stretch>
        </p:blipFill>
        <p:spPr>
          <a:xfrm>
            <a:off x="4473609" y="0"/>
            <a:ext cx="4443465" cy="500282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723960" y="790560"/>
            <a:ext cx="3894480" cy="1370520"/>
          </a:xfrm>
          <a:prstGeom prst="rect">
            <a:avLst/>
          </a:prstGeom>
          <a:noFill/>
          <a:ln w="0">
            <a:noFill/>
          </a:ln>
        </p:spPr>
        <p:txBody>
          <a:bodyPr lIns="90000" tIns="91440" rIns="90000" bIns="91440" anchor="b">
            <a:normAutofit/>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Medium"/>
              </a:rPr>
              <a:t>MySQL to Mongo Term Correlation</a:t>
            </a:r>
            <a:endParaRPr lang="en-US" sz="2600" b="0" strike="noStrike" spc="-1">
              <a:latin typeface="Arial"/>
            </a:endParaRPr>
          </a:p>
        </p:txBody>
      </p:sp>
      <p:sp>
        <p:nvSpPr>
          <p:cNvPr id="278" name="PlaceHolder 2"/>
          <p:cNvSpPr>
            <a:spLocks noGrp="1"/>
          </p:cNvSpPr>
          <p:nvPr>
            <p:ph type="subTitle"/>
          </p:nvPr>
        </p:nvSpPr>
        <p:spPr>
          <a:xfrm>
            <a:off x="723960" y="2162160"/>
            <a:ext cx="3894480" cy="3165840"/>
          </a:xfrm>
          <a:prstGeom prst="rect">
            <a:avLst/>
          </a:prstGeom>
          <a:noFill/>
          <a:ln w="0">
            <a:noFill/>
          </a:ln>
        </p:spPr>
        <p:txBody>
          <a:bodyPr lIns="90000" tIns="91440" rIns="90000" bIns="91440" anchor="t">
            <a:noAutofit/>
          </a:bodyPr>
          <a:lstStyle/>
          <a:p>
            <a:pPr>
              <a:lnSpc>
                <a:spcPct val="100000"/>
              </a:lnSpc>
              <a:buNone/>
            </a:pPr>
            <a:endParaRPr lang="en-US" sz="1800" b="0" strike="noStrike" spc="-1">
              <a:latin typeface="Arial"/>
            </a:endParaRPr>
          </a:p>
          <a:p>
            <a:pPr marL="216000" indent="-216000">
              <a:lnSpc>
                <a:spcPct val="100000"/>
              </a:lnSpc>
              <a:spcBef>
                <a:spcPts val="283"/>
              </a:spcBef>
              <a:spcAft>
                <a:spcPts val="283"/>
              </a:spcAft>
              <a:buClr>
                <a:srgbClr val="FFFFFF"/>
              </a:buClr>
              <a:buSzPct val="45000"/>
              <a:buFont typeface="Wingdings" charset="2"/>
              <a:buChar char=""/>
            </a:pPr>
            <a:r>
              <a:rPr lang="en-US" sz="1500" b="0" strike="noStrike" spc="-1">
                <a:solidFill>
                  <a:srgbClr val="BFCE84"/>
                </a:solidFill>
                <a:latin typeface="Arial"/>
                <a:ea typeface="Microsoft YaHei"/>
              </a:rPr>
              <a:t>MySQL Rows → MongoDB JSON Documents</a:t>
            </a:r>
            <a:endParaRPr lang="en-US" sz="1500" b="0" strike="noStrike" spc="-1">
              <a:latin typeface="Arial"/>
            </a:endParaRPr>
          </a:p>
          <a:p>
            <a:pPr marL="216000" indent="-216000">
              <a:lnSpc>
                <a:spcPct val="100000"/>
              </a:lnSpc>
              <a:spcBef>
                <a:spcPts val="283"/>
              </a:spcBef>
              <a:spcAft>
                <a:spcPts val="283"/>
              </a:spcAft>
              <a:buClr>
                <a:srgbClr val="FFFFFF"/>
              </a:buClr>
              <a:buSzPct val="45000"/>
              <a:buFont typeface="Wingdings" charset="2"/>
              <a:buChar char=""/>
            </a:pPr>
            <a:r>
              <a:rPr lang="en-US" sz="1500" b="0" strike="noStrike" spc="-1">
                <a:solidFill>
                  <a:srgbClr val="BFCE84"/>
                </a:solidFill>
                <a:latin typeface="Arial"/>
                <a:ea typeface="Microsoft YaHei"/>
              </a:rPr>
              <a:t>MySQL Table → MongoDB Collection</a:t>
            </a:r>
            <a:endParaRPr lang="en-US" sz="1500" b="0" strike="noStrike" spc="-1">
              <a:latin typeface="Arial"/>
            </a:endParaRPr>
          </a:p>
          <a:p>
            <a:pPr marL="216000" indent="-216000">
              <a:lnSpc>
                <a:spcPct val="100000"/>
              </a:lnSpc>
              <a:spcBef>
                <a:spcPts val="283"/>
              </a:spcBef>
              <a:spcAft>
                <a:spcPts val="283"/>
              </a:spcAft>
              <a:buClr>
                <a:srgbClr val="FFFFFF"/>
              </a:buClr>
              <a:buSzPct val="45000"/>
              <a:buFont typeface="Wingdings" charset="2"/>
              <a:buChar char=""/>
            </a:pPr>
            <a:r>
              <a:rPr lang="en-US" sz="1500" b="0" strike="noStrike" spc="-1">
                <a:solidFill>
                  <a:srgbClr val="BFCE84"/>
                </a:solidFill>
                <a:latin typeface="Arial"/>
                <a:ea typeface="Microsoft YaHei"/>
              </a:rPr>
              <a:t>MySQL Database → MongoDB Database</a:t>
            </a:r>
            <a:endParaRPr lang="en-US" sz="1500" b="0" strike="noStrike" spc="-1">
              <a:latin typeface="Arial"/>
            </a:endParaRPr>
          </a:p>
          <a:p>
            <a:pPr marL="216000" indent="-216000">
              <a:lnSpc>
                <a:spcPct val="100000"/>
              </a:lnSpc>
              <a:spcBef>
                <a:spcPts val="283"/>
              </a:spcBef>
              <a:spcAft>
                <a:spcPts val="283"/>
              </a:spcAft>
              <a:buClr>
                <a:srgbClr val="FFFFFF"/>
              </a:buClr>
              <a:buSzPct val="45000"/>
              <a:buFont typeface="Wingdings" charset="2"/>
              <a:buChar char=""/>
            </a:pPr>
            <a:r>
              <a:rPr lang="en-US" sz="1500" b="0" strike="noStrike" spc="-1">
                <a:solidFill>
                  <a:srgbClr val="BFCE84"/>
                </a:solidFill>
                <a:latin typeface="Arial"/>
                <a:ea typeface="Microsoft YaHei"/>
              </a:rPr>
              <a:t>MySQL Table Structure → MongoDB Schema</a:t>
            </a:r>
            <a:endParaRPr lang="en-US" sz="1500" b="0" strike="noStrike" spc="-1">
              <a:latin typeface="Arial"/>
            </a:endParaRPr>
          </a:p>
          <a:p>
            <a:pPr marL="216000" indent="-216000">
              <a:lnSpc>
                <a:spcPct val="100000"/>
              </a:lnSpc>
              <a:buClr>
                <a:srgbClr val="FFFFFF"/>
              </a:buClr>
              <a:buSzPct val="45000"/>
              <a:buFont typeface="Wingdings" charset="2"/>
              <a:buChar char=""/>
            </a:pPr>
            <a:endParaRPr lang="en-US" sz="1800" b="0" strike="noStrike" spc="-1">
              <a:latin typeface="Arial"/>
            </a:endParaRPr>
          </a:p>
        </p:txBody>
      </p:sp>
      <p:sp>
        <p:nvSpPr>
          <p:cNvPr id="279" name="Google Shape;183;p 2"/>
          <p:cNvSpPr/>
          <p:nvPr/>
        </p:nvSpPr>
        <p:spPr>
          <a:xfrm>
            <a:off x="5400000" y="0"/>
            <a:ext cx="3742920" cy="5142600"/>
          </a:xfrm>
          <a:prstGeom prst="round1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sp>
      <p:sp>
        <p:nvSpPr>
          <p:cNvPr id="280" name="Google Shape;184;p 2"/>
          <p:cNvSpPr/>
          <p:nvPr/>
        </p:nvSpPr>
        <p:spPr>
          <a:xfrm>
            <a:off x="723960" y="3971880"/>
            <a:ext cx="105624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1" name="Picture 280"/>
          <p:cNvPicPr/>
          <p:nvPr/>
        </p:nvPicPr>
        <p:blipFill>
          <a:blip r:embed="rId2"/>
          <a:stretch/>
        </p:blipFill>
        <p:spPr>
          <a:xfrm>
            <a:off x="114840" y="360"/>
            <a:ext cx="8914320" cy="5143320"/>
          </a:xfrm>
          <a:prstGeom prst="rect">
            <a:avLst/>
          </a:prstGeom>
          <a:ln w="0">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2" name="Picture 281"/>
          <p:cNvPicPr/>
          <p:nvPr/>
        </p:nvPicPr>
        <p:blipFill>
          <a:blip r:embed="rId2"/>
          <a:stretch/>
        </p:blipFill>
        <p:spPr>
          <a:xfrm>
            <a:off x="1495800" y="419760"/>
            <a:ext cx="6152760" cy="4723920"/>
          </a:xfrm>
          <a:prstGeom prst="rect">
            <a:avLst/>
          </a:prstGeom>
          <a:ln w="0">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fontScale="83000"/>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Connecting Mongo DB and Compass to Express Backend</a:t>
            </a:r>
            <a:endParaRPr lang="en-US" sz="2600" b="0" strike="noStrike" spc="-1">
              <a:latin typeface="Arial"/>
            </a:endParaRPr>
          </a:p>
        </p:txBody>
      </p:sp>
      <p:sp>
        <p:nvSpPr>
          <p:cNvPr id="284"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a:bodyPr>
          <a:lstStyle/>
          <a:p>
            <a:pPr>
              <a:lnSpc>
                <a:spcPct val="150000"/>
              </a:lnSpc>
              <a:buNone/>
              <a:tabLst>
                <a:tab pos="0" algn="l"/>
              </a:tabLst>
            </a:pPr>
            <a:r>
              <a:rPr lang="en-US" sz="1200" b="0" strike="noStrike" spc="-1">
                <a:solidFill>
                  <a:srgbClr val="BFCE84"/>
                </a:solidFill>
                <a:latin typeface="Albert Sans"/>
                <a:ea typeface="Albert Sans"/>
              </a:rPr>
              <a:t>Build your backend APIs by defining a Student schema with Mongoose for enforced structure. Unlike Traditional DB where a we define a table structure at table creation before inserting records. Mongo DB does not define any structure. This is because it is schema less and flexible.</a:t>
            </a:r>
            <a:endParaRPr lang="en-US" sz="1200" b="0" strike="noStrike" spc="-1">
              <a:latin typeface="Arial"/>
            </a:endParaRPr>
          </a:p>
        </p:txBody>
      </p:sp>
      <p:sp>
        <p:nvSpPr>
          <p:cNvPr id="285" name="Google Shape;176;p31"/>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fontScale="83000"/>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Connecting Mongo DB and Compass to Express Backend</a:t>
            </a:r>
            <a:endParaRPr lang="en-US" sz="2600" b="0" strike="noStrike" spc="-1">
              <a:latin typeface="Arial"/>
            </a:endParaRPr>
          </a:p>
        </p:txBody>
      </p:sp>
      <p:sp>
        <p:nvSpPr>
          <p:cNvPr id="287"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a:bodyPr>
          <a:lstStyle/>
          <a:p>
            <a:pPr>
              <a:lnSpc>
                <a:spcPct val="150000"/>
              </a:lnSpc>
              <a:buNone/>
              <a:tabLst>
                <a:tab pos="0" algn="l"/>
              </a:tabLst>
            </a:pPr>
            <a:r>
              <a:rPr lang="en-US" sz="1200" b="0" strike="noStrike" spc="-1">
                <a:solidFill>
                  <a:srgbClr val="BFCE84"/>
                </a:solidFill>
                <a:latin typeface="Albert Sans"/>
                <a:ea typeface="Albert Sans"/>
              </a:rPr>
              <a:t>This however means we have to tell the express backend in what format we are receiving data from mongodb because each row can store any type of data or any amount of fields. In the case of mysql we already define a permanent structure at table creation so php backend will recognise structure automatically</a:t>
            </a:r>
            <a:endParaRPr lang="en-US" sz="1200" b="0" strike="noStrike" spc="-1">
              <a:latin typeface="Arial"/>
            </a:endParaRPr>
          </a:p>
        </p:txBody>
      </p:sp>
      <p:sp>
        <p:nvSpPr>
          <p:cNvPr id="288" name="Google Shape;176;p 2"/>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 program&#10;&#10;AI-generated content may be incorrect.">
            <a:extLst>
              <a:ext uri="{FF2B5EF4-FFF2-40B4-BE49-F238E27FC236}">
                <a16:creationId xmlns:a16="http://schemas.microsoft.com/office/drawing/2014/main" id="{888B9474-C752-12E7-C634-84DB2ED0641E}"/>
              </a:ext>
            </a:extLst>
          </p:cNvPr>
          <p:cNvPicPr>
            <a:picLocks noChangeAspect="1"/>
          </p:cNvPicPr>
          <p:nvPr/>
        </p:nvPicPr>
        <p:blipFill>
          <a:blip r:embed="rId2"/>
          <a:stretch>
            <a:fillRect/>
          </a:stretch>
        </p:blipFill>
        <p:spPr>
          <a:xfrm>
            <a:off x="2185988" y="1070463"/>
            <a:ext cx="3936756" cy="3873012"/>
          </a:xfrm>
          <a:prstGeom prst="rect">
            <a:avLst/>
          </a:prstGeom>
        </p:spPr>
      </p:pic>
      <p:sp>
        <p:nvSpPr>
          <p:cNvPr id="5" name="Title 4">
            <a:extLst>
              <a:ext uri="{FF2B5EF4-FFF2-40B4-BE49-F238E27FC236}">
                <a16:creationId xmlns:a16="http://schemas.microsoft.com/office/drawing/2014/main" id="{1B150566-5629-0549-55C1-09F414B63DE3}"/>
              </a:ext>
            </a:extLst>
          </p:cNvPr>
          <p:cNvSpPr>
            <a:spLocks noGrp="1"/>
          </p:cNvSpPr>
          <p:nvPr>
            <p:ph type="title"/>
          </p:nvPr>
        </p:nvSpPr>
        <p:spPr/>
        <p:txBody>
          <a:bodyPr/>
          <a:lstStyle/>
          <a:p>
            <a:r>
              <a:rPr lang="en-US" sz="1800">
                <a:solidFill>
                  <a:schemeClr val="accent3">
                    <a:lumMod val="40000"/>
                    <a:lumOff val="60000"/>
                  </a:schemeClr>
                </a:solidFill>
              </a:rPr>
              <a:t>This is backend\server.js file showing server running code do not remove only add the new code in next step</a:t>
            </a:r>
          </a:p>
        </p:txBody>
      </p:sp>
    </p:spTree>
    <p:extLst>
      <p:ext uri="{BB962C8B-B14F-4D97-AF65-F5344CB8AC3E}">
        <p14:creationId xmlns:p14="http://schemas.microsoft.com/office/powerpoint/2010/main" val="4271113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r>
              <a:rPr lang="en-US" sz="1500" b="0" strike="noStrike" spc="-1">
                <a:solidFill>
                  <a:srgbClr val="BFCE84"/>
                </a:solidFill>
                <a:latin typeface="Arial"/>
              </a:rPr>
              <a:t>Chapter 5 step 0 on my site covers how we can tell express backend the structure of our students collection (table). Copy and paste the code in backend\server.js !! without replacing !! below pre-existing code</a:t>
            </a:r>
            <a:endParaRPr lang="en-US" sz="1500" b="0" strike="noStrike" spc="-1">
              <a:latin typeface="Arial"/>
            </a:endParaRPr>
          </a:p>
        </p:txBody>
      </p:sp>
      <p:pic>
        <p:nvPicPr>
          <p:cNvPr id="290" name="Picture 289"/>
          <p:cNvPicPr/>
          <p:nvPr/>
        </p:nvPicPr>
        <p:blipFill>
          <a:blip r:embed="rId2"/>
          <a:stretch/>
        </p:blipFill>
        <p:spPr>
          <a:xfrm>
            <a:off x="1600200" y="1290600"/>
            <a:ext cx="5943600" cy="3493080"/>
          </a:xfrm>
          <a:prstGeom prst="rect">
            <a:avLst/>
          </a:prstGeom>
          <a:ln w="0">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fontScale="84000"/>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Creating APIs with Express and Mongoose</a:t>
            </a:r>
            <a:endParaRPr lang="en-US" sz="2600" b="0" strike="noStrike" spc="-1">
              <a:latin typeface="Arial"/>
            </a:endParaRPr>
          </a:p>
        </p:txBody>
      </p:sp>
      <p:sp>
        <p:nvSpPr>
          <p:cNvPr id="292"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fontScale="88000"/>
          </a:bodyPr>
          <a:lstStyle/>
          <a:p>
            <a:pPr>
              <a:lnSpc>
                <a:spcPct val="150000"/>
              </a:lnSpc>
              <a:buNone/>
              <a:tabLst>
                <a:tab pos="0" algn="l"/>
              </a:tabLst>
            </a:pPr>
            <a:r>
              <a:rPr lang="en-US" sz="1200" b="0" strike="noStrike" spc="-1">
                <a:solidFill>
                  <a:srgbClr val="BFCE84"/>
                </a:solidFill>
                <a:latin typeface="Albert Sans"/>
                <a:ea typeface="Albert Sans"/>
              </a:rPr>
              <a:t>Implement CRUD operations using Express and Mongoose with clearly defined routes for reading, creating, updating, and deleting student data. Use Mongoose methods such as find(), create(), findByIdAndUpdate(), and findByIdAndDelete() for database interactions. Test endpoints with curl or Postman, and verify database updates visually with MongoDB Compass to ensure accuracy and consistency in your application.</a:t>
            </a:r>
            <a:endParaRPr lang="en-US" sz="1200" b="0" strike="noStrike" spc="-1">
              <a:latin typeface="Arial"/>
            </a:endParaRPr>
          </a:p>
        </p:txBody>
      </p:sp>
      <p:sp>
        <p:nvSpPr>
          <p:cNvPr id="293" name="Google Shape;176;p31"/>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4" name="Picture 293"/>
          <p:cNvPicPr/>
          <p:nvPr/>
        </p:nvPicPr>
        <p:blipFill>
          <a:blip r:embed="rId2"/>
          <a:stretch/>
        </p:blipFill>
        <p:spPr>
          <a:xfrm>
            <a:off x="447840" y="260280"/>
            <a:ext cx="8124840" cy="4623120"/>
          </a:xfrm>
          <a:prstGeom prst="rect">
            <a:avLst/>
          </a:prstGeom>
          <a:ln w="0">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5" name="Picture 294"/>
          <p:cNvPicPr/>
          <p:nvPr/>
        </p:nvPicPr>
        <p:blipFill>
          <a:blip r:embed="rId2"/>
          <a:stretch/>
        </p:blipFill>
        <p:spPr>
          <a:xfrm>
            <a:off x="443160" y="360"/>
            <a:ext cx="8257680" cy="5143320"/>
          </a:xfrm>
          <a:prstGeom prst="rect">
            <a:avLst/>
          </a:prstGeom>
          <a:ln w="0">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2136707B-7ECB-7236-F4C6-AC5E7C35A806}"/>
              </a:ext>
            </a:extLst>
          </p:cNvPr>
          <p:cNvPicPr>
            <a:picLocks noChangeAspect="1"/>
          </p:cNvPicPr>
          <p:nvPr/>
        </p:nvPicPr>
        <p:blipFill>
          <a:blip r:embed="rId2"/>
          <a:stretch>
            <a:fillRect/>
          </a:stretch>
        </p:blipFill>
        <p:spPr>
          <a:xfrm>
            <a:off x="709547" y="762733"/>
            <a:ext cx="6256591" cy="4292844"/>
          </a:xfrm>
          <a:prstGeom prst="rect">
            <a:avLst/>
          </a:prstGeom>
        </p:spPr>
      </p:pic>
      <p:sp>
        <p:nvSpPr>
          <p:cNvPr id="3" name="TextBox 2">
            <a:extLst>
              <a:ext uri="{FF2B5EF4-FFF2-40B4-BE49-F238E27FC236}">
                <a16:creationId xmlns:a16="http://schemas.microsoft.com/office/drawing/2014/main" id="{FB112415-6182-2CEA-480B-05951F32A313}"/>
              </a:ext>
            </a:extLst>
          </p:cNvPr>
          <p:cNvSpPr txBox="1"/>
          <p:nvPr/>
        </p:nvSpPr>
        <p:spPr>
          <a:xfrm>
            <a:off x="712910" y="340702"/>
            <a:ext cx="3971925" cy="369332"/>
          </a:xfrm>
          <a:prstGeom prst="rect">
            <a:avLst/>
          </a:prstGeom>
          <a:noFill/>
          <a:ln>
            <a:solidFill>
              <a:srgbClr val="EBE97A"/>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EBE97A"/>
                </a:solidFill>
              </a:rPr>
              <a:t>Postman Method of Testing</a:t>
            </a:r>
          </a:p>
        </p:txBody>
      </p:sp>
    </p:spTree>
    <p:extLst>
      <p:ext uri="{BB962C8B-B14F-4D97-AF65-F5344CB8AC3E}">
        <p14:creationId xmlns:p14="http://schemas.microsoft.com/office/powerpoint/2010/main" val="24464695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324220D-2012-F7EB-B6BE-612D5B68CF92}"/>
              </a:ext>
            </a:extLst>
          </p:cNvPr>
          <p:cNvPicPr>
            <a:picLocks noChangeAspect="1"/>
          </p:cNvPicPr>
          <p:nvPr/>
        </p:nvPicPr>
        <p:blipFill>
          <a:blip r:embed="rId2"/>
          <a:stretch>
            <a:fillRect/>
          </a:stretch>
        </p:blipFill>
        <p:spPr>
          <a:xfrm>
            <a:off x="677417" y="0"/>
            <a:ext cx="7789166" cy="5143500"/>
          </a:xfrm>
          <a:prstGeom prst="rect">
            <a:avLst/>
          </a:prstGeom>
        </p:spPr>
      </p:pic>
    </p:spTree>
    <p:extLst>
      <p:ext uri="{BB962C8B-B14F-4D97-AF65-F5344CB8AC3E}">
        <p14:creationId xmlns:p14="http://schemas.microsoft.com/office/powerpoint/2010/main" val="360897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9E89B6DC-CBE8-D056-7025-DE75D7063ABD}"/>
              </a:ext>
            </a:extLst>
          </p:cNvPr>
          <p:cNvPicPr>
            <a:picLocks noChangeAspect="1"/>
          </p:cNvPicPr>
          <p:nvPr/>
        </p:nvPicPr>
        <p:blipFill>
          <a:blip r:embed="rId2"/>
          <a:stretch>
            <a:fillRect/>
          </a:stretch>
        </p:blipFill>
        <p:spPr>
          <a:xfrm>
            <a:off x="674790" y="0"/>
            <a:ext cx="7794420" cy="5143500"/>
          </a:xfrm>
          <a:prstGeom prst="rect">
            <a:avLst/>
          </a:prstGeom>
        </p:spPr>
      </p:pic>
    </p:spTree>
    <p:extLst>
      <p:ext uri="{BB962C8B-B14F-4D97-AF65-F5344CB8AC3E}">
        <p14:creationId xmlns:p14="http://schemas.microsoft.com/office/powerpoint/2010/main" val="28386882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 name="Picture 295"/>
          <p:cNvPicPr/>
          <p:nvPr/>
        </p:nvPicPr>
        <p:blipFill>
          <a:blip r:embed="rId2"/>
          <a:stretch/>
        </p:blipFill>
        <p:spPr>
          <a:xfrm>
            <a:off x="360" y="760680"/>
            <a:ext cx="9143640" cy="3622680"/>
          </a:xfrm>
          <a:prstGeom prst="rect">
            <a:avLst/>
          </a:prstGeom>
          <a:ln w="0">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 name="Picture 296"/>
          <p:cNvPicPr/>
          <p:nvPr/>
        </p:nvPicPr>
        <p:blipFill>
          <a:blip r:embed="rId2"/>
          <a:stretch/>
        </p:blipFill>
        <p:spPr>
          <a:xfrm>
            <a:off x="580320" y="200160"/>
            <a:ext cx="7696800" cy="4762440"/>
          </a:xfrm>
          <a:prstGeom prst="rect">
            <a:avLst/>
          </a:prstGeom>
          <a:ln w="0">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8" name="Picture 297"/>
          <p:cNvPicPr/>
          <p:nvPr/>
        </p:nvPicPr>
        <p:blipFill>
          <a:blip r:embed="rId2"/>
          <a:stretch/>
        </p:blipFill>
        <p:spPr>
          <a:xfrm>
            <a:off x="233640" y="224280"/>
            <a:ext cx="8677080" cy="4695480"/>
          </a:xfrm>
          <a:prstGeom prst="rect">
            <a:avLst/>
          </a:prstGeom>
          <a:ln w="0">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9" name="Picture 298"/>
          <p:cNvPicPr/>
          <p:nvPr/>
        </p:nvPicPr>
        <p:blipFill>
          <a:blip r:embed="rId2"/>
          <a:stretch/>
        </p:blipFill>
        <p:spPr>
          <a:xfrm>
            <a:off x="57960" y="360"/>
            <a:ext cx="9028080" cy="5143320"/>
          </a:xfrm>
          <a:prstGeom prst="rect">
            <a:avLst/>
          </a:prstGeom>
          <a:ln w="0">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PlaceHolder 1"/>
          <p:cNvSpPr>
            <a:spLocks noGrp="1"/>
          </p:cNvSpPr>
          <p:nvPr>
            <p:ph type="title"/>
          </p:nvPr>
        </p:nvSpPr>
        <p:spPr>
          <a:xfrm>
            <a:off x="723960" y="790560"/>
            <a:ext cx="3894480" cy="1370520"/>
          </a:xfrm>
          <a:prstGeom prst="rect">
            <a:avLst/>
          </a:prstGeom>
          <a:noFill/>
          <a:ln w="0">
            <a:noFill/>
          </a:ln>
        </p:spPr>
        <p:txBody>
          <a:bodyPr lIns="90000" tIns="91440" rIns="90000" bIns="91440" anchor="b">
            <a:normAutofit/>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Medium"/>
              </a:rPr>
              <a:t>Frontend Development with React</a:t>
            </a:r>
            <a:endParaRPr lang="en-US" sz="2600" b="0" strike="noStrike" spc="-1">
              <a:latin typeface="Arial"/>
            </a:endParaRPr>
          </a:p>
        </p:txBody>
      </p:sp>
      <p:sp>
        <p:nvSpPr>
          <p:cNvPr id="301" name="PlaceHolder 2"/>
          <p:cNvSpPr>
            <a:spLocks noGrp="1"/>
          </p:cNvSpPr>
          <p:nvPr>
            <p:ph type="subTitle"/>
          </p:nvPr>
        </p:nvSpPr>
        <p:spPr>
          <a:xfrm>
            <a:off x="723960" y="2162160"/>
            <a:ext cx="3894480" cy="3165840"/>
          </a:xfrm>
          <a:prstGeom prst="rect">
            <a:avLst/>
          </a:prstGeom>
          <a:noFill/>
          <a:ln w="0">
            <a:noFill/>
          </a:ln>
        </p:spPr>
        <p:txBody>
          <a:bodyPr lIns="90000" tIns="91440" rIns="90000" bIns="91440" anchor="t">
            <a:noAutofit/>
          </a:bodyPr>
          <a:lstStyle/>
          <a:p>
            <a:pPr>
              <a:lnSpc>
                <a:spcPct val="100000"/>
              </a:lnSpc>
              <a:buNone/>
            </a:pPr>
            <a:r>
              <a:rPr lang="en-US" sz="1600" b="0" strike="noStrike" spc="-1">
                <a:solidFill>
                  <a:srgbClr val="BFCE84"/>
                </a:solidFill>
                <a:latin typeface="Arial"/>
              </a:rPr>
              <a:t>Copy code from chapter 6 step 1 into frontend\App.js to perform read operation at frontend and print list of students</a:t>
            </a:r>
            <a:endParaRPr lang="en-US" sz="1600" b="0" strike="noStrike" spc="-1">
              <a:latin typeface="Arial"/>
            </a:endParaRPr>
          </a:p>
        </p:txBody>
      </p:sp>
      <p:sp>
        <p:nvSpPr>
          <p:cNvPr id="302" name="Google Shape;183;p32"/>
          <p:cNvSpPr/>
          <p:nvPr/>
        </p:nvSpPr>
        <p:spPr>
          <a:xfrm>
            <a:off x="5400000" y="0"/>
            <a:ext cx="3742920" cy="5142600"/>
          </a:xfrm>
          <a:prstGeom prst="round1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sp>
      <p:sp>
        <p:nvSpPr>
          <p:cNvPr id="303" name="Google Shape;184;p32"/>
          <p:cNvSpPr/>
          <p:nvPr/>
        </p:nvSpPr>
        <p:spPr>
          <a:xfrm>
            <a:off x="723960" y="3971880"/>
            <a:ext cx="105624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4" name="Picture 303"/>
          <p:cNvPicPr/>
          <p:nvPr/>
        </p:nvPicPr>
        <p:blipFill>
          <a:blip r:embed="rId2"/>
          <a:stretch/>
        </p:blipFill>
        <p:spPr>
          <a:xfrm>
            <a:off x="1342080" y="0"/>
            <a:ext cx="6440760" cy="5143320"/>
          </a:xfrm>
          <a:prstGeom prst="rect">
            <a:avLst/>
          </a:prstGeom>
          <a:ln w="0">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PlaceHolder 1"/>
          <p:cNvSpPr>
            <a:spLocks noGrp="1"/>
          </p:cNvSpPr>
          <p:nvPr>
            <p:ph type="title"/>
          </p:nvPr>
        </p:nvSpPr>
        <p:spPr>
          <a:xfrm>
            <a:off x="723960" y="790560"/>
            <a:ext cx="3894480" cy="1370520"/>
          </a:xfrm>
          <a:prstGeom prst="rect">
            <a:avLst/>
          </a:prstGeom>
          <a:noFill/>
          <a:ln w="0">
            <a:noFill/>
          </a:ln>
        </p:spPr>
        <p:txBody>
          <a:bodyPr lIns="90000" tIns="91440" rIns="90000" bIns="91440" anchor="b">
            <a:normAutofit/>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Medium"/>
              </a:rPr>
              <a:t>Fetching and Showing Student Data</a:t>
            </a:r>
            <a:endParaRPr lang="en-US" sz="2600" b="0" strike="noStrike" spc="-1">
              <a:latin typeface="Arial"/>
            </a:endParaRPr>
          </a:p>
        </p:txBody>
      </p:sp>
      <p:sp>
        <p:nvSpPr>
          <p:cNvPr id="306" name="PlaceHolder 2"/>
          <p:cNvSpPr>
            <a:spLocks noGrp="1"/>
          </p:cNvSpPr>
          <p:nvPr>
            <p:ph type="subTitle"/>
          </p:nvPr>
        </p:nvSpPr>
        <p:spPr>
          <a:xfrm>
            <a:off x="723960" y="2162160"/>
            <a:ext cx="3894480" cy="1732320"/>
          </a:xfrm>
          <a:prstGeom prst="rect">
            <a:avLst/>
          </a:prstGeom>
          <a:noFill/>
          <a:ln w="0">
            <a:noFill/>
          </a:ln>
        </p:spPr>
        <p:txBody>
          <a:bodyPr lIns="90000" tIns="91440" rIns="90000" bIns="91440" anchor="t">
            <a:normAutofit fontScale="89000"/>
          </a:bodyPr>
          <a:lstStyle/>
          <a:p>
            <a:pPr>
              <a:lnSpc>
                <a:spcPct val="150000"/>
              </a:lnSpc>
              <a:buNone/>
              <a:tabLst>
                <a:tab pos="0" algn="l"/>
              </a:tabLst>
            </a:pPr>
            <a:r>
              <a:rPr lang="en-US" sz="1200" b="0" strike="noStrike" spc="-1">
                <a:solidFill>
                  <a:srgbClr val="BFCE84"/>
                </a:solidFill>
                <a:latin typeface="Albert Sans"/>
                <a:ea typeface="Albert Sans"/>
              </a:rPr>
              <a:t>Use React hooks like </a:t>
            </a:r>
            <a:r>
              <a:rPr lang="en-US" sz="1200" b="0" i="1" strike="noStrike" spc="-1">
                <a:solidFill>
                  <a:srgbClr val="BFCE84"/>
                </a:solidFill>
                <a:latin typeface="Albert Sans"/>
                <a:ea typeface="Albert Sans"/>
              </a:rPr>
              <a:t>useState</a:t>
            </a:r>
            <a:r>
              <a:rPr lang="en-US" sz="1200" b="0" strike="noStrike" spc="-1">
                <a:solidFill>
                  <a:srgbClr val="BFCE84"/>
                </a:solidFill>
                <a:latin typeface="Albert Sans"/>
                <a:ea typeface="Albert Sans"/>
              </a:rPr>
              <a:t> to store students and </a:t>
            </a:r>
            <a:r>
              <a:rPr lang="en-US" sz="1200" b="0" i="1" strike="noStrike" spc="-1">
                <a:solidFill>
                  <a:srgbClr val="BFCE84"/>
                </a:solidFill>
                <a:latin typeface="Albert Sans"/>
                <a:ea typeface="Albert Sans"/>
              </a:rPr>
              <a:t>useEffect</a:t>
            </a:r>
            <a:r>
              <a:rPr lang="en-US" sz="1200" b="0" strike="noStrike" spc="-1">
                <a:solidFill>
                  <a:srgbClr val="BFCE84"/>
                </a:solidFill>
                <a:latin typeface="Albert Sans"/>
                <a:ea typeface="Albert Sans"/>
              </a:rPr>
              <a:t> to fetch data on component mount. Fetch the list of students from the backend API and render them dynamically in a list. This initiates your React frontend connection to the backend and displays real-time student data on the UI with easy-to-understand state management techniques.</a:t>
            </a:r>
            <a:endParaRPr lang="en-US" sz="1200" b="0" strike="noStrike" spc="-1">
              <a:latin typeface="Arial"/>
            </a:endParaRPr>
          </a:p>
        </p:txBody>
      </p:sp>
      <p:sp>
        <p:nvSpPr>
          <p:cNvPr id="307" name="Google Shape;183;p32"/>
          <p:cNvSpPr/>
          <p:nvPr/>
        </p:nvSpPr>
        <p:spPr>
          <a:xfrm>
            <a:off x="5400000" y="0"/>
            <a:ext cx="3742920" cy="5142600"/>
          </a:xfrm>
          <a:prstGeom prst="round1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sp>
      <p:sp>
        <p:nvSpPr>
          <p:cNvPr id="308" name="Google Shape;184;p32"/>
          <p:cNvSpPr/>
          <p:nvPr/>
        </p:nvSpPr>
        <p:spPr>
          <a:xfrm>
            <a:off x="723960" y="3971880"/>
            <a:ext cx="105624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9" name="Picture 308"/>
          <p:cNvPicPr/>
          <p:nvPr/>
        </p:nvPicPr>
        <p:blipFill>
          <a:blip r:embed="rId2"/>
          <a:stretch/>
        </p:blipFill>
        <p:spPr>
          <a:xfrm>
            <a:off x="1632240" y="0"/>
            <a:ext cx="5860440" cy="5143320"/>
          </a:xfrm>
          <a:prstGeom prst="rect">
            <a:avLst/>
          </a:prstGeom>
          <a:ln w="0">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0" name="Picture 309"/>
          <p:cNvPicPr/>
          <p:nvPr/>
        </p:nvPicPr>
        <p:blipFill>
          <a:blip r:embed="rId2"/>
          <a:stretch/>
        </p:blipFill>
        <p:spPr>
          <a:xfrm>
            <a:off x="-9360" y="1023480"/>
            <a:ext cx="9143640" cy="3096720"/>
          </a:xfrm>
          <a:prstGeom prst="rect">
            <a:avLst/>
          </a:prstGeom>
          <a:ln w="0">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457200" y="205200"/>
            <a:ext cx="8229240" cy="858600"/>
          </a:xfrm>
          <a:prstGeom prst="rect">
            <a:avLst/>
          </a:prstGeom>
          <a:noFill/>
          <a:ln w="0">
            <a:noFill/>
          </a:ln>
        </p:spPr>
        <p:txBody>
          <a:bodyPr lIns="90000" tIns="91440" rIns="90000" bIns="91440" anchor="ctr">
            <a:normAutofit/>
          </a:bodyPr>
          <a:lstStyle/>
          <a:p>
            <a:pPr>
              <a:lnSpc>
                <a:spcPct val="100000"/>
              </a:lnSpc>
              <a:buNone/>
              <a:tabLst>
                <a:tab pos="0" algn="l"/>
              </a:tabLst>
            </a:pPr>
            <a:r>
              <a:rPr lang="en-US" sz="2200" b="0" strike="noStrike" spc="-1">
                <a:solidFill>
                  <a:srgbClr val="BFCE84"/>
                </a:solidFill>
                <a:latin typeface="Atkinson Hyperlegible Next SemiBold"/>
                <a:ea typeface="Atkinson Hyperlegible Next SemiBold"/>
              </a:rPr>
              <a:t> Deleting Records</a:t>
            </a:r>
            <a:endParaRPr lang="en-US" sz="2200" b="0" strike="noStrike" spc="-1">
              <a:latin typeface="Arial"/>
            </a:endParaRPr>
          </a:p>
        </p:txBody>
      </p:sp>
      <p:sp>
        <p:nvSpPr>
          <p:cNvPr id="312"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a:bodyPr>
          <a:lstStyle/>
          <a:p>
            <a:pPr>
              <a:lnSpc>
                <a:spcPct val="150000"/>
              </a:lnSpc>
              <a:buNone/>
              <a:tabLst>
                <a:tab pos="0" algn="l"/>
              </a:tabLst>
            </a:pPr>
            <a:r>
              <a:rPr lang="en-US" sz="1200" b="0" strike="noStrike" spc="-1">
                <a:solidFill>
                  <a:srgbClr val="BFCE84"/>
                </a:solidFill>
                <a:latin typeface="Albert Sans"/>
                <a:ea typeface="Albert Sans"/>
              </a:rPr>
              <a:t>Pass id through a button and make DELETE request</a:t>
            </a:r>
            <a:endParaRPr lang="en-US" sz="1200" b="0" strike="noStrike" spc="-1">
              <a:latin typeface="Arial"/>
            </a:endParaRPr>
          </a:p>
        </p:txBody>
      </p:sp>
      <p:sp>
        <p:nvSpPr>
          <p:cNvPr id="313" name="Google Shape;176;p31"/>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4" name="Picture 313"/>
          <p:cNvPicPr/>
          <p:nvPr/>
        </p:nvPicPr>
        <p:blipFill>
          <a:blip r:embed="rId2"/>
          <a:stretch/>
        </p:blipFill>
        <p:spPr>
          <a:xfrm>
            <a:off x="1973520" y="0"/>
            <a:ext cx="5177880" cy="5143320"/>
          </a:xfrm>
          <a:prstGeom prst="rect">
            <a:avLst/>
          </a:prstGeom>
          <a:ln w="0">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5" name="Picture 314"/>
          <p:cNvPicPr/>
          <p:nvPr/>
        </p:nvPicPr>
        <p:blipFill>
          <a:blip r:embed="rId2"/>
          <a:stretch/>
        </p:blipFill>
        <p:spPr>
          <a:xfrm>
            <a:off x="-9360" y="1269720"/>
            <a:ext cx="9143640" cy="2603880"/>
          </a:xfrm>
          <a:prstGeom prst="rect">
            <a:avLst/>
          </a:prstGeom>
          <a:ln w="0">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fontScale="84000"/>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Creating and Updating Records</a:t>
            </a:r>
            <a:endParaRPr lang="en-US" sz="2600" b="0" strike="noStrike" spc="-1">
              <a:latin typeface="Arial"/>
            </a:endParaRPr>
          </a:p>
        </p:txBody>
      </p:sp>
      <p:sp>
        <p:nvSpPr>
          <p:cNvPr id="317"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fontScale="89000"/>
          </a:bodyPr>
          <a:lstStyle/>
          <a:p>
            <a:pPr>
              <a:lnSpc>
                <a:spcPct val="150000"/>
              </a:lnSpc>
              <a:buNone/>
              <a:tabLst>
                <a:tab pos="0" algn="l"/>
              </a:tabLst>
            </a:pPr>
            <a:r>
              <a:rPr lang="en-US" sz="1200" b="0" strike="noStrike" spc="-1">
                <a:solidFill>
                  <a:srgbClr val="BFCE84"/>
                </a:solidFill>
                <a:latin typeface="Albert Sans"/>
                <a:ea typeface="Albert Sans"/>
              </a:rPr>
              <a:t>Add a controlled form to handle new student creation using </a:t>
            </a:r>
            <a:r>
              <a:rPr lang="en-US" sz="1200" b="0" i="1" strike="noStrike" spc="-1">
                <a:solidFill>
                  <a:srgbClr val="BFCE84"/>
                </a:solidFill>
                <a:latin typeface="Albert Sans"/>
                <a:ea typeface="Albert Sans"/>
              </a:rPr>
              <a:t>useState</a:t>
            </a:r>
            <a:r>
              <a:rPr lang="en-US" sz="1200" b="0" strike="noStrike" spc="-1">
                <a:solidFill>
                  <a:srgbClr val="BFCE84"/>
                </a:solidFill>
                <a:latin typeface="Albert Sans"/>
                <a:ea typeface="Albert Sans"/>
              </a:rPr>
              <a:t> for form inputs and track current editingID. Submitting the form triggers a POST request to the backend if editingID is null otherwise PUT request, followed by refreshing the student list. Implement update functionality with buttons that fill form inputs with pre existing data. After each mutation, reload the list to keep the UI synced with the backend.</a:t>
            </a:r>
            <a:endParaRPr lang="en-US" sz="1200" b="0" strike="noStrike" spc="-1">
              <a:latin typeface="Arial"/>
            </a:endParaRPr>
          </a:p>
        </p:txBody>
      </p:sp>
      <p:sp>
        <p:nvSpPr>
          <p:cNvPr id="318" name="Google Shape;176;p 3"/>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fontScale="85000"/>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Editing and Updating Records</a:t>
            </a:r>
            <a:endParaRPr lang="en-US" sz="2600" b="0" strike="noStrike" spc="-1">
              <a:latin typeface="Arial"/>
            </a:endParaRPr>
          </a:p>
        </p:txBody>
      </p:sp>
      <p:sp>
        <p:nvSpPr>
          <p:cNvPr id="320"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fontScale="91000"/>
          </a:bodyPr>
          <a:lstStyle/>
          <a:p>
            <a:pPr>
              <a:lnSpc>
                <a:spcPct val="150000"/>
              </a:lnSpc>
              <a:buNone/>
              <a:tabLst>
                <a:tab pos="0" algn="l"/>
              </a:tabLst>
            </a:pPr>
            <a:r>
              <a:rPr lang="en-US" sz="1200" b="0" strike="noStrike" spc="-1">
                <a:solidFill>
                  <a:srgbClr val="BFCE84"/>
                </a:solidFill>
                <a:latin typeface="Albert Sans"/>
                <a:ea typeface="Albert Sans"/>
              </a:rPr>
              <a:t>Enable edit mode by storing the current records ID to toggle between create and update operations. Prefill the form fields with selected student data, modifying the submit button text accordingly. On form submission, send PUT requests to update existing records, then refresh the student list to show the latest data and maintain a seamless user experience.</a:t>
            </a:r>
            <a:endParaRPr lang="en-US" sz="1200" b="0" strike="noStrike" spc="-1">
              <a:latin typeface="Arial"/>
            </a:endParaRPr>
          </a:p>
        </p:txBody>
      </p:sp>
      <p:sp>
        <p:nvSpPr>
          <p:cNvPr id="321" name="Google Shape;176;p 1"/>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2" name="Picture 321"/>
          <p:cNvPicPr/>
          <p:nvPr/>
        </p:nvPicPr>
        <p:blipFill>
          <a:blip r:embed="rId2"/>
          <a:stretch/>
        </p:blipFill>
        <p:spPr>
          <a:xfrm>
            <a:off x="-1348560" y="32400"/>
            <a:ext cx="13659120" cy="7682760"/>
          </a:xfrm>
          <a:prstGeom prst="rect">
            <a:avLst/>
          </a:prstGeom>
          <a:ln w="0">
            <a:noFill/>
          </a:ln>
        </p:spPr>
      </p:pic>
      <p:sp>
        <p:nvSpPr>
          <p:cNvPr id="32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r>
              <a:rPr lang="en-US" sz="2800" b="0" strike="noStrike" spc="-1">
                <a:solidFill>
                  <a:srgbClr val="BFCE84"/>
                </a:solidFill>
                <a:latin typeface="Arial"/>
              </a:rPr>
              <a:t>Insertion pt 1</a:t>
            </a:r>
            <a:endParaRPr lang="en-US" sz="2800" b="0" strike="noStrike" spc="-1">
              <a:latin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r>
              <a:rPr lang="en-US" sz="2800" b="0" strike="noStrike" spc="-1">
                <a:solidFill>
                  <a:srgbClr val="BFCE84"/>
                </a:solidFill>
                <a:latin typeface="Arial"/>
              </a:rPr>
              <a:t>Insertion pt 2</a:t>
            </a:r>
            <a:endParaRPr lang="en-US" sz="2800" b="0" strike="noStrike" spc="-1">
              <a:latin typeface="Arial"/>
            </a:endParaRPr>
          </a:p>
        </p:txBody>
      </p:sp>
      <p:pic>
        <p:nvPicPr>
          <p:cNvPr id="325" name="Picture 324"/>
          <p:cNvPicPr/>
          <p:nvPr/>
        </p:nvPicPr>
        <p:blipFill>
          <a:blip r:embed="rId2"/>
          <a:stretch/>
        </p:blipFill>
        <p:spPr>
          <a:xfrm>
            <a:off x="3736440" y="232920"/>
            <a:ext cx="4018320" cy="4926600"/>
          </a:xfrm>
          <a:prstGeom prst="rect">
            <a:avLst/>
          </a:prstGeom>
          <a:ln w="0">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6" name="Picture 325"/>
          <p:cNvPicPr/>
          <p:nvPr/>
        </p:nvPicPr>
        <p:blipFill>
          <a:blip r:embed="rId2"/>
          <a:stretch/>
        </p:blipFill>
        <p:spPr>
          <a:xfrm>
            <a:off x="-7920" y="884880"/>
            <a:ext cx="9143640" cy="3373920"/>
          </a:xfrm>
          <a:prstGeom prst="rect">
            <a:avLst/>
          </a:prstGeom>
          <a:ln w="0">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r>
              <a:rPr lang="en-US" sz="2000" b="0" strike="noStrike" spc="-1">
                <a:solidFill>
                  <a:srgbClr val="BFCE84"/>
                </a:solidFill>
                <a:latin typeface="Arial"/>
              </a:rPr>
              <a:t>Update pt 1 (showing editing record data in form input boxes and set value to editingID)</a:t>
            </a:r>
            <a:endParaRPr lang="en-US" sz="2000" b="0" strike="noStrike" spc="-1">
              <a:latin typeface="Arial"/>
            </a:endParaRPr>
          </a:p>
        </p:txBody>
      </p:sp>
      <p:pic>
        <p:nvPicPr>
          <p:cNvPr id="328" name="Picture 327"/>
          <p:cNvPicPr/>
          <p:nvPr/>
        </p:nvPicPr>
        <p:blipFill>
          <a:blip r:embed="rId2"/>
          <a:stretch/>
        </p:blipFill>
        <p:spPr>
          <a:xfrm>
            <a:off x="-523800" y="214560"/>
            <a:ext cx="11557080" cy="6500520"/>
          </a:xfrm>
          <a:prstGeom prst="rect">
            <a:avLst/>
          </a:prstGeom>
          <a:ln w="0">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r>
              <a:rPr lang="en-US" sz="2000" b="0" strike="noStrike" spc="-1">
                <a:solidFill>
                  <a:srgbClr val="BFCE84"/>
                </a:solidFill>
                <a:latin typeface="Arial"/>
              </a:rPr>
              <a:t>Update pt 2 (triggering PUT request if editingID has value)</a:t>
            </a:r>
            <a:endParaRPr lang="en-US" sz="2000" b="0" strike="noStrike" spc="-1">
              <a:latin typeface="Arial"/>
            </a:endParaRPr>
          </a:p>
        </p:txBody>
      </p:sp>
      <p:pic>
        <p:nvPicPr>
          <p:cNvPr id="330" name="Picture 329"/>
          <p:cNvPicPr/>
          <p:nvPr/>
        </p:nvPicPr>
        <p:blipFill>
          <a:blip r:embed="rId2"/>
          <a:stretch/>
        </p:blipFill>
        <p:spPr>
          <a:xfrm>
            <a:off x="-992520" y="151560"/>
            <a:ext cx="13108680" cy="7373160"/>
          </a:xfrm>
          <a:prstGeom prst="rect">
            <a:avLst/>
          </a:prstGeom>
          <a:ln w="0">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1" name="Picture 330"/>
          <p:cNvPicPr/>
          <p:nvPr/>
        </p:nvPicPr>
        <p:blipFill>
          <a:blip r:embed="rId2"/>
          <a:stretch/>
        </p:blipFill>
        <p:spPr>
          <a:xfrm>
            <a:off x="1571400" y="248040"/>
            <a:ext cx="5587200" cy="4743000"/>
          </a:xfrm>
          <a:prstGeom prst="rect">
            <a:avLst/>
          </a:prstGeom>
          <a:ln w="0">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723960" y="790560"/>
            <a:ext cx="3894480" cy="1370520"/>
          </a:xfrm>
          <a:prstGeom prst="rect">
            <a:avLst/>
          </a:prstGeom>
          <a:noFill/>
          <a:ln w="0">
            <a:noFill/>
          </a:ln>
        </p:spPr>
        <p:txBody>
          <a:bodyPr lIns="90000" tIns="91440" rIns="90000" bIns="91440" anchor="b">
            <a:normAutofit/>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Medium"/>
              </a:rPr>
              <a:t>Managing Environment Configuration</a:t>
            </a:r>
            <a:endParaRPr lang="en-US" sz="2600" b="0" strike="noStrike" spc="-1">
              <a:latin typeface="Arial"/>
            </a:endParaRPr>
          </a:p>
        </p:txBody>
      </p:sp>
      <p:sp>
        <p:nvSpPr>
          <p:cNvPr id="333" name="PlaceHolder 2"/>
          <p:cNvSpPr>
            <a:spLocks noGrp="1"/>
          </p:cNvSpPr>
          <p:nvPr>
            <p:ph type="subTitle"/>
          </p:nvPr>
        </p:nvSpPr>
        <p:spPr>
          <a:xfrm>
            <a:off x="723960" y="2162160"/>
            <a:ext cx="3894480" cy="1732320"/>
          </a:xfrm>
          <a:prstGeom prst="rect">
            <a:avLst/>
          </a:prstGeom>
          <a:noFill/>
          <a:ln w="0">
            <a:noFill/>
          </a:ln>
        </p:spPr>
        <p:txBody>
          <a:bodyPr lIns="90000" tIns="91440" rIns="90000" bIns="91440" anchor="t">
            <a:normAutofit fontScale="93000"/>
          </a:bodyPr>
          <a:lstStyle/>
          <a:p>
            <a:pPr>
              <a:lnSpc>
                <a:spcPct val="150000"/>
              </a:lnSpc>
              <a:buNone/>
              <a:tabLst>
                <a:tab pos="0" algn="l"/>
              </a:tabLst>
            </a:pPr>
            <a:r>
              <a:rPr lang="en-US" sz="1200" b="0" strike="noStrike" spc="-1">
                <a:solidFill>
                  <a:srgbClr val="BFCE84"/>
                </a:solidFill>
                <a:latin typeface="Albert Sans"/>
                <a:ea typeface="Albert Sans"/>
              </a:rPr>
              <a:t>Organize environment variables in .env files using </a:t>
            </a:r>
            <a:r>
              <a:rPr lang="en-US" sz="1200" b="0" i="1" strike="noStrike" spc="-1">
                <a:solidFill>
                  <a:srgbClr val="BFCE84"/>
                </a:solidFill>
                <a:latin typeface="Albert Sans"/>
                <a:ea typeface="Albert Sans"/>
              </a:rPr>
              <a:t>dotenv</a:t>
            </a:r>
            <a:r>
              <a:rPr lang="en-US" sz="1200" b="0" strike="noStrike" spc="-1">
                <a:solidFill>
                  <a:srgbClr val="BFCE84"/>
                </a:solidFill>
                <a:latin typeface="Albert Sans"/>
                <a:ea typeface="Albert Sans"/>
              </a:rPr>
              <a:t> to keep sensitive configurations out of code. Ensure correct paths and ports for backend and frontend are defined consistently to avoid conflicts. Proper environment management facilitates smooth transitions between development, testing, and production setups.</a:t>
            </a:r>
            <a:endParaRPr lang="en-US" sz="1200" b="0" strike="noStrike" spc="-1">
              <a:latin typeface="Arial"/>
            </a:endParaRPr>
          </a:p>
        </p:txBody>
      </p:sp>
      <p:sp>
        <p:nvSpPr>
          <p:cNvPr id="334" name="Google Shape;183;p32"/>
          <p:cNvSpPr/>
          <p:nvPr/>
        </p:nvSpPr>
        <p:spPr>
          <a:xfrm>
            <a:off x="5400000" y="0"/>
            <a:ext cx="3742920" cy="5142600"/>
          </a:xfrm>
          <a:prstGeom prst="round1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sp>
      <p:sp>
        <p:nvSpPr>
          <p:cNvPr id="335" name="Google Shape;184;p32"/>
          <p:cNvSpPr/>
          <p:nvPr/>
        </p:nvSpPr>
        <p:spPr>
          <a:xfrm>
            <a:off x="723960" y="3971880"/>
            <a:ext cx="105624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fontScale="84000"/>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Streamlining Development Workflow</a:t>
            </a:r>
            <a:endParaRPr lang="en-US" sz="2600" b="0" strike="noStrike" spc="-1">
              <a:latin typeface="Arial"/>
            </a:endParaRPr>
          </a:p>
        </p:txBody>
      </p:sp>
      <p:sp>
        <p:nvSpPr>
          <p:cNvPr id="337"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fontScale="91000"/>
          </a:bodyPr>
          <a:lstStyle/>
          <a:p>
            <a:pPr>
              <a:lnSpc>
                <a:spcPct val="150000"/>
              </a:lnSpc>
              <a:buNone/>
              <a:tabLst>
                <a:tab pos="0" algn="l"/>
              </a:tabLst>
            </a:pPr>
            <a:r>
              <a:rPr lang="en-US" sz="1200" b="0" strike="noStrike" spc="-1">
                <a:solidFill>
                  <a:srgbClr val="BFCE84"/>
                </a:solidFill>
                <a:latin typeface="Albert Sans"/>
                <a:ea typeface="Albert Sans"/>
              </a:rPr>
              <a:t>Utilize tools like </a:t>
            </a:r>
            <a:r>
              <a:rPr lang="en-US" sz="1200" b="0" i="1" strike="noStrike" spc="-1">
                <a:solidFill>
                  <a:srgbClr val="BFCE84"/>
                </a:solidFill>
                <a:latin typeface="Albert Sans"/>
                <a:ea typeface="Albert Sans"/>
              </a:rPr>
              <a:t>nodemon</a:t>
            </a:r>
            <a:r>
              <a:rPr lang="en-US" sz="1200" b="0" strike="noStrike" spc="-1">
                <a:solidFill>
                  <a:srgbClr val="BFCE84"/>
                </a:solidFill>
                <a:latin typeface="Albert Sans"/>
                <a:ea typeface="Albert Sans"/>
              </a:rPr>
              <a:t> for automatic backend server restarts and Vite for fast React frontend builds. Run backend and frontend servers concurrently in separate command prompts for efficient development. Constantly reload data after CRUD operations to keep UI and database in sync, improving productivity and minimizing errors.</a:t>
            </a:r>
            <a:endParaRPr lang="en-US" sz="1200" b="0" strike="noStrike" spc="-1">
              <a:latin typeface="Arial"/>
            </a:endParaRPr>
          </a:p>
        </p:txBody>
      </p:sp>
      <p:sp>
        <p:nvSpPr>
          <p:cNvPr id="338" name="Google Shape;176;p31"/>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723960" y="790560"/>
            <a:ext cx="3894480" cy="1370520"/>
          </a:xfrm>
          <a:prstGeom prst="rect">
            <a:avLst/>
          </a:prstGeom>
          <a:noFill/>
          <a:ln w="0">
            <a:noFill/>
          </a:ln>
        </p:spPr>
        <p:txBody>
          <a:bodyPr lIns="90000" tIns="91440" rIns="90000" bIns="91440" anchor="b">
            <a:normAutofit/>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Medium"/>
              </a:rPr>
              <a:t>Conclusions</a:t>
            </a:r>
            <a:endParaRPr lang="en-US" sz="2600" b="0" strike="noStrike" spc="-1">
              <a:latin typeface="Arial"/>
            </a:endParaRPr>
          </a:p>
        </p:txBody>
      </p:sp>
      <p:sp>
        <p:nvSpPr>
          <p:cNvPr id="340" name="PlaceHolder 2"/>
          <p:cNvSpPr>
            <a:spLocks noGrp="1"/>
          </p:cNvSpPr>
          <p:nvPr>
            <p:ph type="subTitle"/>
          </p:nvPr>
        </p:nvSpPr>
        <p:spPr>
          <a:xfrm>
            <a:off x="723960" y="2162160"/>
            <a:ext cx="3894480" cy="1732320"/>
          </a:xfrm>
          <a:prstGeom prst="rect">
            <a:avLst/>
          </a:prstGeom>
          <a:noFill/>
          <a:ln w="0">
            <a:noFill/>
          </a:ln>
        </p:spPr>
        <p:txBody>
          <a:bodyPr lIns="90000" tIns="91440" rIns="90000" bIns="91440" anchor="t">
            <a:normAutofit fontScale="79000"/>
          </a:bodyPr>
          <a:lstStyle/>
          <a:p>
            <a:pPr>
              <a:lnSpc>
                <a:spcPct val="150000"/>
              </a:lnSpc>
              <a:buNone/>
              <a:tabLst>
                <a:tab pos="0" algn="l"/>
              </a:tabLst>
            </a:pPr>
            <a:r>
              <a:rPr lang="en-US" sz="1200" b="0" strike="noStrike" spc="-1">
                <a:solidFill>
                  <a:srgbClr val="BFCE84"/>
                </a:solidFill>
                <a:latin typeface="Albert Sans"/>
                <a:ea typeface="Albert Sans"/>
              </a:rPr>
              <a:t>Building a MERN stack app involves setting up a robust backend with Express and Mongoose, managing data using MongoDB, and crafting an interactive React frontend. Understanding environment setup, troubleshooting, and smooth workflows sets the foundation for productive development. Mastering CRUD operations and syncing frontend-backend interactions completes the learning journey toward full-stack JavaScript proficiency.</a:t>
            </a:r>
            <a:endParaRPr lang="en-US" sz="1200" b="0" strike="noStrike" spc="-1">
              <a:latin typeface="Arial"/>
            </a:endParaRPr>
          </a:p>
        </p:txBody>
      </p:sp>
      <p:sp>
        <p:nvSpPr>
          <p:cNvPr id="341" name="Google Shape;183;p32"/>
          <p:cNvSpPr/>
          <p:nvPr/>
        </p:nvSpPr>
        <p:spPr>
          <a:xfrm>
            <a:off x="5400000" y="0"/>
            <a:ext cx="3742920" cy="5142600"/>
          </a:xfrm>
          <a:prstGeom prst="round1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sp>
      <p:sp>
        <p:nvSpPr>
          <p:cNvPr id="342" name="Google Shape;184;p32"/>
          <p:cNvSpPr/>
          <p:nvPr/>
        </p:nvSpPr>
        <p:spPr>
          <a:xfrm>
            <a:off x="723960" y="3971880"/>
            <a:ext cx="105624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714240" y="386280"/>
            <a:ext cx="4054179" cy="1041480"/>
          </a:xfrm>
          <a:prstGeom prst="rect">
            <a:avLst/>
          </a:prstGeom>
          <a:noFill/>
          <a:ln w="0">
            <a:noFill/>
          </a:ln>
        </p:spPr>
        <p:txBody>
          <a:bodyPr lIns="90000" tIns="91440" rIns="90000" bIns="91440" anchor="b">
            <a:noAutofit/>
          </a:bodyPr>
          <a:lstStyle/>
          <a:p>
            <a:pPr>
              <a:lnSpc>
                <a:spcPct val="100000"/>
              </a:lnSpc>
              <a:tabLst>
                <a:tab pos="0" algn="l"/>
              </a:tabLst>
            </a:pPr>
            <a:r>
              <a:rPr lang="en" sz="2800" spc="-1">
                <a:solidFill>
                  <a:srgbClr val="BFCE84"/>
                </a:solidFill>
                <a:latin typeface="Atkinson Hyperlegible Next SemiBold"/>
              </a:rPr>
              <a:t>Thanking All Joined Members</a:t>
            </a:r>
            <a:endParaRPr lang="en-US" sz="2800" b="0" strike="noStrike" spc="-1">
              <a:latin typeface="Arial"/>
            </a:endParaRPr>
          </a:p>
        </p:txBody>
      </p:sp>
      <p:sp>
        <p:nvSpPr>
          <p:cNvPr id="344" name="Google Shape;337;p41"/>
          <p:cNvSpPr/>
          <p:nvPr/>
        </p:nvSpPr>
        <p:spPr>
          <a:xfrm>
            <a:off x="2219400" y="2295360"/>
            <a:ext cx="105624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0E2A22"/>
                </a:solidFill>
                <a:latin typeface="Arial"/>
                <a:ea typeface="DejaVu Sans"/>
              </a:rPr>
              <a:t>↓</a:t>
            </a:r>
            <a:endParaRPr lang="en-US" sz="1000" b="0" strike="noStrike" spc="-1">
              <a:latin typeface="Arial"/>
            </a:endParaRPr>
          </a:p>
        </p:txBody>
      </p:sp>
      <p:sp>
        <p:nvSpPr>
          <p:cNvPr id="345" name="Google Shape;347;p41"/>
          <p:cNvSpPr/>
          <p:nvPr/>
        </p:nvSpPr>
        <p:spPr>
          <a:xfrm flipH="1">
            <a:off x="5599440" y="1359720"/>
            <a:ext cx="3531960" cy="3782880"/>
          </a:xfrm>
          <a:prstGeom prst="round1Rect">
            <a:avLst>
              <a:gd name="adj" fmla="val 50000"/>
            </a:avLst>
          </a:prstGeom>
          <a:blipFill rotWithShape="0">
            <a:blip r:embed="rId2"/>
            <a:srcRect/>
            <a:stretch/>
          </a:blipFill>
          <a:ln w="0">
            <a:noFill/>
          </a:ln>
        </p:spPr>
        <p:style>
          <a:lnRef idx="0">
            <a:scrgbClr r="0" g="0" b="0"/>
          </a:lnRef>
          <a:fillRef idx="0">
            <a:scrgbClr r="0" g="0" b="0"/>
          </a:fillRef>
          <a:effectRef idx="0">
            <a:scrgbClr r="0" g="0" b="0"/>
          </a:effectRef>
          <a:fontRef idx="minor"/>
        </p:style>
      </p:sp>
      <p:sp>
        <p:nvSpPr>
          <p:cNvPr id="346" name="Google Shape;348;p41"/>
          <p:cNvSpPr/>
          <p:nvPr/>
        </p:nvSpPr>
        <p:spPr>
          <a:xfrm>
            <a:off x="714240" y="3333600"/>
            <a:ext cx="2742120" cy="1220400"/>
          </a:xfrm>
          <a:prstGeom prst="rect">
            <a:avLst/>
          </a:prstGeom>
          <a:noFill/>
          <a:ln w="0">
            <a:noFill/>
          </a:ln>
        </p:spPr>
        <p:style>
          <a:lnRef idx="0">
            <a:scrgbClr r="0" g="0" b="0"/>
          </a:lnRef>
          <a:fillRef idx="0">
            <a:scrgbClr r="0" g="0" b="0"/>
          </a:fillRef>
          <a:effectRef idx="0">
            <a:scrgbClr r="0" g="0" b="0"/>
          </a:effectRef>
          <a:fontRef idx="minor"/>
        </p:style>
        <p:txBody>
          <a:bodyPr lIns="870823080" tIns="-7080120" rIns="870823080" bIns="-7080120" anchor="t">
            <a:spAutoFit/>
          </a:bodyPr>
          <a:lstStyle/>
          <a:p>
            <a:pPr>
              <a:lnSpc>
                <a:spcPct val="100000"/>
              </a:lnSpc>
              <a:spcBef>
                <a:spcPts val="300"/>
              </a:spcBef>
              <a:buNone/>
              <a:tabLst>
                <a:tab pos="0" algn="l"/>
              </a:tabLst>
            </a:pPr>
            <a:r>
              <a:rPr lang="en" sz="1000" b="1" strike="noStrike" spc="-1">
                <a:solidFill>
                  <a:srgbClr val="0E2A22"/>
                </a:solidFill>
                <a:latin typeface="Arial"/>
                <a:ea typeface="DejaVu Sans"/>
              </a:rPr>
              <a:t>CREDITS:</a:t>
            </a:r>
            <a:r>
              <a:rPr lang="en" sz="1000" b="0" strike="noStrike" spc="-1">
                <a:solidFill>
                  <a:srgbClr val="0E2A22"/>
                </a:solidFill>
                <a:latin typeface="Arial"/>
                <a:ea typeface="DejaVu Sans"/>
              </a:rPr>
              <a:t> This presentation template was created by </a:t>
            </a:r>
            <a:r>
              <a:rPr lang="en" sz="1000" b="1" u="sng" strike="noStrike" spc="-1">
                <a:solidFill>
                  <a:srgbClr val="BFCE84"/>
                </a:solidFill>
                <a:uFillTx/>
                <a:latin typeface="Arial"/>
                <a:ea typeface="DejaVu Sans"/>
                <a:hlinkClick r:id="rId3"/>
              </a:rPr>
              <a:t>Slidesgo</a:t>
            </a:r>
            <a:r>
              <a:rPr lang="en" sz="1000" b="0" strike="noStrike" spc="-1">
                <a:solidFill>
                  <a:srgbClr val="0E2A22"/>
                </a:solidFill>
                <a:latin typeface="Arial"/>
                <a:ea typeface="DejaVu Sans"/>
              </a:rPr>
              <a:t>, and includes icons, infographics &amp; images by </a:t>
            </a:r>
            <a:r>
              <a:rPr lang="en" sz="1000" b="1" u="sng" strike="noStrike" spc="-1">
                <a:solidFill>
                  <a:srgbClr val="BFCE84"/>
                </a:solidFill>
                <a:uFillTx/>
                <a:latin typeface="Arial"/>
                <a:ea typeface="DejaVu Sans"/>
                <a:hlinkClick r:id="rId4"/>
              </a:rPr>
              <a:t>Freepik</a:t>
            </a:r>
            <a:r>
              <a:rPr lang="en" sz="1000" b="0" u="sng" strike="noStrike" spc="-1">
                <a:solidFill>
                  <a:srgbClr val="0E2A22"/>
                </a:solidFill>
                <a:uFillTx/>
                <a:latin typeface="Arial"/>
                <a:ea typeface="DejaVu Sans"/>
              </a:rPr>
              <a:t> </a:t>
            </a:r>
            <a:endParaRPr lang="en-US" sz="1000" b="0" strike="noStrike" spc="-1">
              <a:latin typeface="Arial"/>
            </a:endParaRPr>
          </a:p>
        </p:txBody>
      </p:sp>
      <p:sp>
        <p:nvSpPr>
          <p:cNvPr id="3" name="PlaceHolder 1">
            <a:extLst>
              <a:ext uri="{FF2B5EF4-FFF2-40B4-BE49-F238E27FC236}">
                <a16:creationId xmlns:a16="http://schemas.microsoft.com/office/drawing/2014/main" id="{1E0B6C87-DBF0-BF44-EEB8-051408611E1D}"/>
              </a:ext>
            </a:extLst>
          </p:cNvPr>
          <p:cNvSpPr txBox="1">
            <a:spLocks/>
          </p:cNvSpPr>
          <p:nvPr/>
        </p:nvSpPr>
        <p:spPr>
          <a:xfrm>
            <a:off x="713311" y="2169546"/>
            <a:ext cx="4054179" cy="860273"/>
          </a:xfrm>
          <a:prstGeom prst="rect">
            <a:avLst/>
          </a:prstGeom>
          <a:noFill/>
          <a:ln w="0">
            <a:noFill/>
          </a:ln>
        </p:spPr>
        <p:txBody>
          <a:bodyPr lIns="90000" tIns="91440" rIns="90000" bIns="9144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 spc="-1">
                <a:solidFill>
                  <a:srgbClr val="BFCE84"/>
                </a:solidFill>
                <a:latin typeface="Atkinson Hyperlegible Next SemiBold"/>
              </a:rPr>
              <a:t>Fin</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(16:9)</PresentationFormat>
  <Slides>78</Slides>
  <Notes>0</Notes>
  <HiddenSlides>0</HiddenSlides>
  <ScaleCrop>false</ScaleCrop>
  <HeadingPairs>
    <vt:vector size="4" baseType="variant">
      <vt:variant>
        <vt:lpstr>Theme</vt:lpstr>
      </vt:variant>
      <vt:variant>
        <vt:i4>5</vt:i4>
      </vt:variant>
      <vt:variant>
        <vt:lpstr>Slide Titles</vt:lpstr>
      </vt:variant>
      <vt:variant>
        <vt:i4>78</vt:i4>
      </vt:variant>
    </vt:vector>
  </HeadingPairs>
  <TitlesOfParts>
    <vt:vector size="83" baseType="lpstr">
      <vt:lpstr>Office Theme</vt:lpstr>
      <vt:lpstr>Office Theme</vt:lpstr>
      <vt:lpstr>Office Theme</vt:lpstr>
      <vt:lpstr>Office Theme</vt:lpstr>
      <vt:lpstr>Office Theme</vt:lpstr>
      <vt:lpstr>MERN Stack Workshop</vt:lpstr>
      <vt:lpstr>Credits</vt:lpstr>
      <vt:lpstr>Introduction</vt:lpstr>
      <vt:lpstr>Topics Covered</vt:lpstr>
      <vt:lpstr>Workshop Materials</vt:lpstr>
      <vt:lpstr>What is MERN Stack ?</vt:lpstr>
      <vt:lpstr>What is MERN Stack ?</vt:lpstr>
      <vt:lpstr>Full Stack Path Choices</vt:lpstr>
      <vt:lpstr>MERN Setup Prerequisites</vt:lpstr>
      <vt:lpstr>PowerPoint Presentation</vt:lpstr>
      <vt:lpstr>PowerPoint Presentation</vt:lpstr>
      <vt:lpstr>Checking NodeJS Installated Correctly</vt:lpstr>
      <vt:lpstr>Node.js, npm, and MongoDB Installation Fixes</vt:lpstr>
      <vt:lpstr>PowerPoint Presentation</vt:lpstr>
      <vt:lpstr>Error 1: npm not found or recognised</vt:lpstr>
      <vt:lpstr>PowerPoint Presentation</vt:lpstr>
      <vt:lpstr>PowerPoint Presentation</vt:lpstr>
      <vt:lpstr>PowerPoint Presentation</vt:lpstr>
      <vt:lpstr>PowerPoint Presentation</vt:lpstr>
      <vt:lpstr>PowerPoint Presentation</vt:lpstr>
      <vt:lpstr>PowerPoint Presentation</vt:lpstr>
      <vt:lpstr>Windows Setup and Folder Structure</vt:lpstr>
      <vt:lpstr>PowerPoint Presentation</vt:lpstr>
      <vt:lpstr>PowerPoint Presentation</vt:lpstr>
      <vt:lpstr>PowerPoint Presentation</vt:lpstr>
      <vt:lpstr>PowerPoint Presentation</vt:lpstr>
      <vt:lpstr>PowerPoint Presentation</vt:lpstr>
      <vt:lpstr>Running Backend and Frontend Servers</vt:lpstr>
      <vt:lpstr>How to run the project next time</vt:lpstr>
      <vt:lpstr>MongoDB Compass: Database Setup</vt:lpstr>
      <vt:lpstr>PowerPoint Presentation</vt:lpstr>
      <vt:lpstr>PowerPoint Presentation</vt:lpstr>
      <vt:lpstr>PowerPoint Presentation</vt:lpstr>
      <vt:lpstr>PowerPoint Presentation</vt:lpstr>
      <vt:lpstr>PowerPoint Presentation</vt:lpstr>
      <vt:lpstr>Copy code from chapter 4 step 3 from my site</vt:lpstr>
      <vt:lpstr>PowerPoint Presentation</vt:lpstr>
      <vt:lpstr>PowerPoint Presentation</vt:lpstr>
      <vt:lpstr>PowerPoint Presentation</vt:lpstr>
      <vt:lpstr>PowerPoint Presentation</vt:lpstr>
      <vt:lpstr>PowerPoint Presentation</vt:lpstr>
      <vt:lpstr>MySQL to Mongo Term Correlation</vt:lpstr>
      <vt:lpstr>PowerPoint Presentation</vt:lpstr>
      <vt:lpstr>PowerPoint Presentation</vt:lpstr>
      <vt:lpstr>Connecting Mongo DB and Compass to Express Backend</vt:lpstr>
      <vt:lpstr>Connecting Mongo DB and Compass to Express Backend</vt:lpstr>
      <vt:lpstr>This is backend\server.js file showing server running code do not remove only add the new code in next step</vt:lpstr>
      <vt:lpstr>Chapter 5 step 0 on my site covers how we can tell express backend the structure of our students collection (table). Copy and paste the code in backend\server.js !! without replacing !! below pre-existing code</vt:lpstr>
      <vt:lpstr>Creating APIs with Express and Mongoose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Frontend Development with React</vt:lpstr>
      <vt:lpstr>PowerPoint Presentation</vt:lpstr>
      <vt:lpstr>Fetching and Showing Student Data</vt:lpstr>
      <vt:lpstr>PowerPoint Presentation</vt:lpstr>
      <vt:lpstr>PowerPoint Presentation</vt:lpstr>
      <vt:lpstr> Deleting Records</vt:lpstr>
      <vt:lpstr>PowerPoint Presentation</vt:lpstr>
      <vt:lpstr>PowerPoint Presentation</vt:lpstr>
      <vt:lpstr>Creating and Updating Records</vt:lpstr>
      <vt:lpstr>Editing and Updating Records</vt:lpstr>
      <vt:lpstr>Insertion pt 1</vt:lpstr>
      <vt:lpstr>Insertion pt 2</vt:lpstr>
      <vt:lpstr>PowerPoint Presentation</vt:lpstr>
      <vt:lpstr>Update pt 1 (showing editing record data in form input boxes and set value to editingID)</vt:lpstr>
      <vt:lpstr>Update pt 2 (triggering PUT request if editingID has value)</vt:lpstr>
      <vt:lpstr>PowerPoint Presentation</vt:lpstr>
      <vt:lpstr>Managing Environment Configuration</vt:lpstr>
      <vt:lpstr>Streamlining Development Workflow</vt:lpstr>
      <vt:lpstr>Conclusions</vt:lpstr>
      <vt:lpstr>Thanking All Joined Members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Presentation</dc:title>
  <dc:subject/>
  <dc:creator>Unknown Creator</dc:creator>
  <dc:description/>
  <cp:revision>23</cp:revision>
  <dcterms:created xsi:type="dcterms:W3CDTF">2025-11-28T11:25:36Z</dcterms:created>
  <dcterms:modified xsi:type="dcterms:W3CDTF">2026-10-14T21:38:57Z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21</vt:r8>
  </property>
</Properties>
</file>